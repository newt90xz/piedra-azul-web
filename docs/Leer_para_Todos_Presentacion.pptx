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1f2ddde3-94e2-5400-ce86-690187f764f7}">
          <p14:sldIdLst>
            <p14:sldId id="256"/>
            <p14:sldId id="257"/>
            <p14:sldId id="258"/>
          </p14:sldIdLst>
        </p14:section>
        <p14:section name="Nuestra solución" id="{207e04e3-0637-e68b-b1e1-3275016b176c}">
          <p14:sldIdLst>
            <p14:sldId id="259"/>
            <p14:sldId id="260"/>
            <p14:sldId id="261"/>
            <p14:sldId id="262"/>
          </p14:sldIdLst>
        </p14:section>
        <p14:section name="Actividades" id="{37ecb96e-82bc-5b41-2629-a9a0a03dc584}">
          <p14:sldIdLst>
            <p14:sldId id="263"/>
            <p14:sldId id="264"/>
          </p14:sldIdLst>
        </p14:section>
        <p14:section name="Personalización y seguimiento" id="{b1e321b7-a380-3790-bb0a-693bc3efd3cf}">
          <p14:sldIdLst>
            <p14:sldId id="265"/>
            <p14:sldId id="266"/>
          </p14:sldIdLst>
        </p14:section>
        <p14:section name="Cierre" id="{b3b1364a-31e4-44b6-6dc8-976d2b818340}">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Leer para Todos, el prototipo de plataforma web que estamos desarrollando junto al Liceo Piedra Azul para apoyar a los niños con NEE de Pre-Kínder y Kínder en sus primeros pasos en la lectura.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central es reforzar la lectura inicial. Las educadoras nos pidieron poner el foco en lo fonoaudiológico: que el niño entienda que cada letra tiene un sonido y que esos sonidos se unen para formar sílabas y palabras. Todo apoyado con imágenes reales y pictogramas.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Durante la visita del 24 de septiembre las educadoras nos contaron el problema principal: los programas que han usado deletrean las sílabas (eme, a) en vez de reproducir el sonido continuo (mmmaaa), lo que contradice el método fonético que usan en clases. Además cada niño tiene dificultades distintas y necesitan reforzar constantemente.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 propuesta es una página web llamada Leer para Todos. Se usará en las salas de computación del liceo y siempre con una educadora acompañando. Se apoya en cuatro pilares: sonidos reales, imágenes y pictogramas, seguimiento del avance y motivación.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flujo general. La educadora inicia sesión, el niño toca su foto, registra cómo se siente con caritas de colores, llega a su dashboard y desde ahí entra a las actividades, donde gana monedas. En ningún momento el niño necesita leer o escribir.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ingreso usamos un modo aula: la educadora inicia sesión al comienzo de la clase y en pantalla aparece su curso con las fotos o avatares. El niño solo toca su foto para entrar. Así evitamos que tenga que recordar o escribir contraseñas.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entrar, el niño indica cómo se siente con caritas y colores, algo que ya hacen en la sala. Luego llega a su dashboard: ve su avatar, sus monedas y cuatro grandes botones de actividades. Nunca hay más de cuatro opciones para no sobrecargarlo, y los niveles se van desbloqueando a medida que avanza.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actividad principal trabaja letras, sílabas y palabras. El niño escucha el sonido real de cada letra, ve con una animación cómo M y A se unen en MA con un sonido continuo, y luego forma palabras como MAMÁ y las asocia a su imagen o pictograma. Los contenidos avanzan siempre en el mismo orden, de lo simple a lo complejo.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las educadoras refuerzan con cuentos y canciones, los incluimos como modalidades. Los cuentos son historias narradas con pictogramas, con temas genéricos que les interesan como animales, dinosaurios o piratas. Las canciones y rimas refuerzan cada vocal y las palmadas visuales ayudan a contar sílabas. En todas las actividades hay instrucción narrada que se puede repetir y refuerzo positivo, nunca castigo.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niño tiene un perfil editable. La educadora puede ajustar el tamaño de letra, el contraste de colores, el volumen, reducir animaciones y elegir entre fotos reales o pictogramas. Por defecto usamos colores suaves y sin destellos, para evitar la sobrecarga sensorial, y existe una vista de alto contraste para quien la necesite. Los ajustes se guardan en el perfil y se aplican automáticamente.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red docente-alumnos funciona así: cada educadora gestiona su curso. Puede crear y editar perfiles, asignar letras o actividades específicas según las dificultades de cada niño, ver su avance por letra (el panel destaca las que más le cuestan) y llevar el seguimiento con las emociones registradas, las sesiones de la semana, observaciones y rúbricas propias.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 hicimos el levantamiento en el liceo. Los siguientes pasos son diseñar las pantallas, construir el prototipo y validarlo con las educadoras, en especial los audios y las imágenes, para entregarlo en diciembre. A futuro queda abierta una versión para tablets, contenidos para 1.º básico y el uso desde el hogar.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indent="0" marL="0">
              <a:buNone/>
              <a:defRPr lang="en-US" sz="3000" b="1" dirty="0">
                <a:solidFill>
                  <a:schemeClr val="tx2"/>
                </a:solidFill>
                <a:latin typeface="Bookman Old Style" pitchFamily="34" charset="0"/>
                <a:ea typeface="Bookman Old Style" pitchFamily="34" charset="-122"/>
                <a:cs typeface="Bookman Old Style"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E405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rtlCol="0"/>
          <a:lstStyle>
            <a:lvl1pPr indent="0" marL="0">
              <a:buNone/>
              <a:defRPr lang="en-US" sz="3200" b="1" dirty="0">
                <a:solidFill>
                  <a:schemeClr val="bg1"/>
                </a:solidFill>
                <a:latin typeface="Bookman Old Style" pitchFamily="34" charset="0"/>
                <a:ea typeface="Bookman Old Style" pitchFamily="34" charset="-122"/>
                <a:cs typeface="Bookman Old Style" pitchFamily="34" charset="-120"/>
              </a:defRPr>
            </a:lvl1pPr>
          </a:lstStyle>
          <a:p>
            <a:pPr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777240"/>
            <a:ext cx="512064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PROTOTIPO DE PLATAFORMA WEB</a:t>
            </a:r>
            <a:endParaRPr lang="en-US" sz="1200" dirty="0"/>
          </a:p>
        </p:txBody>
      </p:sp>
      <p:sp>
        <p:nvSpPr>
          <p:cNvPr id="3" name="text-2"/>
          <p:cNvSpPr txBox="1"/>
          <p:nvPr/>
        </p:nvSpPr>
        <p:spPr>
          <a:xfrm>
            <a:off x="548640" y="1097280"/>
            <a:ext cx="5303520" cy="822960"/>
          </a:xfrm>
          <a:prstGeom prst="rect">
            <a:avLst/>
          </a:prstGeom>
          <a:noFill/>
          <a:ln/>
        </p:spPr>
        <p:txBody>
          <a:bodyPr wrap="square" lIns="0" tIns="0" rIns="0" bIns="0" rtlCol="0" anchor="ctr"/>
          <a:lstStyle/>
          <a:p>
            <a:pPr indent="0" marL="0">
              <a:buNone/>
            </a:pPr>
            <a:r>
              <a:rPr lang="en-US" sz="4400" b="1" dirty="0">
                <a:solidFill>
                  <a:schemeClr val="bg1"/>
                </a:solidFill>
                <a:latin typeface="Bookman Old Style" pitchFamily="34" charset="0"/>
                <a:ea typeface="Bookman Old Style" pitchFamily="34" charset="-122"/>
                <a:cs typeface="Bookman Old Style" pitchFamily="34" charset="-120"/>
              </a:rPr>
              <a:t>Leer para Todos</a:t>
            </a:r>
            <a:endParaRPr lang="en-US" sz="4400" dirty="0"/>
          </a:p>
        </p:txBody>
      </p:sp>
      <p:sp>
        <p:nvSpPr>
          <p:cNvPr id="4" name="text-3"/>
          <p:cNvSpPr txBox="1"/>
          <p:nvPr/>
        </p:nvSpPr>
        <p:spPr>
          <a:xfrm>
            <a:off x="548640" y="2011680"/>
            <a:ext cx="4937760" cy="777240"/>
          </a:xfrm>
          <a:prstGeom prst="rect">
            <a:avLst/>
          </a:prstGeom>
          <a:noFill/>
          <a:ln/>
        </p:spPr>
        <p:txBody>
          <a:bodyPr wrap="square" lIns="0" tIns="0" rIns="0" bIns="0" rtlCol="0" anchor="t"/>
          <a:lstStyle/>
          <a:p>
            <a:pPr indent="0" marL="0">
              <a:buNone/>
            </a:pPr>
            <a:r>
              <a:rPr lang="en-US" sz="1600" dirty="0">
                <a:solidFill>
                  <a:srgbClr val="DCE6EE"/>
                </a:solidFill>
              </a:rPr>
              <a:t>Refuerzo de la lectura con sonidos, imágenes y pictogramas para niños con NEE de Pre-Kínder y Kínder</a:t>
            </a:r>
            <a:endParaRPr lang="en-US" sz="1600" dirty="0"/>
          </a:p>
        </p:txBody>
      </p:sp>
      <p:sp>
        <p:nvSpPr>
          <p:cNvPr id="5" name="text-4"/>
          <p:cNvSpPr txBox="1"/>
          <p:nvPr/>
        </p:nvSpPr>
        <p:spPr>
          <a:xfrm>
            <a:off x="548640" y="2880360"/>
            <a:ext cx="4937760" cy="320040"/>
          </a:xfrm>
          <a:prstGeom prst="rect">
            <a:avLst/>
          </a:prstGeom>
          <a:noFill/>
          <a:ln/>
        </p:spPr>
        <p:txBody>
          <a:bodyPr wrap="square" lIns="0" tIns="0" rIns="0" bIns="0" rtlCol="0" anchor="t"/>
          <a:lstStyle/>
          <a:p>
            <a:pPr indent="0" marL="0">
              <a:buNone/>
            </a:pPr>
            <a:r>
              <a:rPr lang="en-US" sz="1400" b="1" dirty="0">
                <a:solidFill>
                  <a:schemeClr val="accent6"/>
                </a:solidFill>
              </a:rPr>
              <a:t>Liceo Piedra Azul · Puerto Montt</a:t>
            </a:r>
            <a:endParaRPr lang="en-US" sz="1400" dirty="0"/>
          </a:p>
        </p:txBody>
      </p:sp>
      <p:sp>
        <p:nvSpPr>
          <p:cNvPr id="6" name="text-5"/>
          <p:cNvSpPr txBox="1"/>
          <p:nvPr/>
        </p:nvSpPr>
        <p:spPr>
          <a:xfrm>
            <a:off x="548640" y="3931920"/>
            <a:ext cx="5669280" cy="685800"/>
          </a:xfrm>
          <a:prstGeom prst="rect">
            <a:avLst/>
          </a:prstGeom>
          <a:noFill/>
          <a:ln/>
        </p:spPr>
        <p:txBody>
          <a:bodyPr wrap="square" lIns="0" tIns="0" rIns="0" bIns="0" rtlCol="0" anchor="t"/>
          <a:lstStyle/>
          <a:p>
            <a:pPr indent="0" marL="0">
              <a:spcAft>
                <a:spcPts val="400"/>
              </a:spcAft>
              <a:buNone/>
            </a:pPr>
            <a:r>
              <a:rPr lang="en-US" sz="1100" dirty="0">
                <a:solidFill>
                  <a:srgbClr val="B8C7D3"/>
                </a:solidFill>
              </a:rPr>
              <a:t>Matías Cárcamo · Alonso Cárdenas · Adrián García · Israel González · Oskar Rehbein · Diego Schafer</a:t>
            </a:r>
            <a:endParaRPr lang="en-US" sz="1100" dirty="0"/>
          </a:p>
          <a:p>
            <a:pPr indent="0" marL="0">
              <a:spcAft>
                <a:spcPts val="400"/>
              </a:spcAft>
              <a:buNone/>
            </a:pPr>
            <a:r>
              <a:rPr lang="en-US" sz="1100" dirty="0">
                <a:solidFill>
                  <a:srgbClr val="B8C7D3"/>
                </a:solidFill>
              </a:rPr>
              <a:t>Ingeniería de Requerimientos y Aseguramiento de Calidad · Prof. Rodrigo Barría</a:t>
            </a:r>
            <a:endParaRPr lang="en-US" sz="1100" dirty="0"/>
          </a:p>
        </p:txBody>
      </p:sp>
      <p:sp>
        <p:nvSpPr>
          <p:cNvPr id="7" name="tile-6"/>
          <p:cNvSpPr/>
          <p:nvPr/>
        </p:nvSpPr>
        <p:spPr>
          <a:xfrm>
            <a:off x="5989320" y="1097280"/>
            <a:ext cx="1005840" cy="1005840"/>
          </a:xfrm>
          <a:prstGeom prst="roundRect">
            <a:avLst>
              <a:gd name="adj" fmla="val 10909"/>
            </a:avLst>
          </a:prstGeom>
          <a:solidFill>
            <a:schemeClr val="accent3"/>
          </a:solidFill>
          <a:ln/>
        </p:spPr>
        <p:txBody>
          <a:bodyPr wrap="square" lIns="0" tIns="0" rIns="0" bIns="0" rtlCol="0" anchor="ctr"/>
          <a:lstStyle/>
          <a:p>
            <a:pPr algn="ctr" indent="0" marL="0">
              <a:buNone/>
            </a:pPr>
            <a:r>
              <a:rPr lang="en-US" sz="5400" b="1" dirty="0">
                <a:solidFill>
                  <a:schemeClr val="bg1"/>
                </a:solidFill>
                <a:latin typeface="Arial" pitchFamily="34" charset="0"/>
                <a:ea typeface="Arial" pitchFamily="34" charset="-122"/>
                <a:cs typeface="Arial" pitchFamily="34" charset="-120"/>
              </a:rPr>
              <a:t>M</a:t>
            </a:r>
            <a:endParaRPr lang="en-US" sz="5400" dirty="0"/>
          </a:p>
        </p:txBody>
      </p:sp>
      <p:sp>
        <p:nvSpPr>
          <p:cNvPr id="8" name="text-7"/>
          <p:cNvSpPr txBox="1"/>
          <p:nvPr/>
        </p:nvSpPr>
        <p:spPr>
          <a:xfrm>
            <a:off x="6995160" y="1097280"/>
            <a:ext cx="457200" cy="1005840"/>
          </a:xfrm>
          <a:prstGeom prst="rect">
            <a:avLst/>
          </a:prstGeom>
          <a:noFill/>
          <a:ln/>
        </p:spPr>
        <p:txBody>
          <a:bodyPr wrap="square" lIns="0" tIns="0" rIns="0" bIns="0" rtlCol="0" anchor="ctr"/>
          <a:lstStyle/>
          <a:p>
            <a:pPr algn="ctr" indent="0" marL="0">
              <a:buNone/>
            </a:pPr>
            <a:r>
              <a:rPr lang="en-US" sz="3600" b="1" dirty="0">
                <a:solidFill>
                  <a:schemeClr val="bg1"/>
                </a:solidFill>
              </a:rPr>
              <a:t>+</a:t>
            </a:r>
            <a:endParaRPr lang="en-US" sz="3600" dirty="0"/>
          </a:p>
        </p:txBody>
      </p:sp>
      <p:sp>
        <p:nvSpPr>
          <p:cNvPr id="9" name="tile-8"/>
          <p:cNvSpPr/>
          <p:nvPr/>
        </p:nvSpPr>
        <p:spPr>
          <a:xfrm>
            <a:off x="7452360" y="1097280"/>
            <a:ext cx="1005840" cy="1005840"/>
          </a:xfrm>
          <a:prstGeom prst="roundRect">
            <a:avLst>
              <a:gd name="adj" fmla="val 10909"/>
            </a:avLst>
          </a:prstGeom>
          <a:solidFill>
            <a:schemeClr val="accent2"/>
          </a:solidFill>
          <a:ln/>
        </p:spPr>
        <p:txBody>
          <a:bodyPr wrap="square" lIns="0" tIns="0" rIns="0" bIns="0" rtlCol="0" anchor="ctr"/>
          <a:lstStyle/>
          <a:p>
            <a:pPr algn="ctr" indent="0" marL="0">
              <a:buNone/>
            </a:pPr>
            <a:r>
              <a:rPr lang="en-US" sz="5400" b="1" dirty="0">
                <a:solidFill>
                  <a:schemeClr val="bg1"/>
                </a:solidFill>
                <a:latin typeface="Arial" pitchFamily="34" charset="0"/>
                <a:ea typeface="Arial" pitchFamily="34" charset="-122"/>
                <a:cs typeface="Arial" pitchFamily="34" charset="-120"/>
              </a:rPr>
              <a:t>A</a:t>
            </a:r>
            <a:endParaRPr lang="en-US" sz="5400" dirty="0"/>
          </a:p>
        </p:txBody>
      </p:sp>
      <p:sp>
        <p:nvSpPr>
          <p:cNvPr id="10" name="tile-9"/>
          <p:cNvSpPr/>
          <p:nvPr/>
        </p:nvSpPr>
        <p:spPr>
          <a:xfrm>
            <a:off x="5989320" y="2377440"/>
            <a:ext cx="2468880" cy="1097280"/>
          </a:xfrm>
          <a:prstGeom prst="roundRect">
            <a:avLst>
              <a:gd name="adj" fmla="val 10000"/>
            </a:avLst>
          </a:prstGeom>
          <a:solidFill>
            <a:schemeClr val="accent6"/>
          </a:solidFill>
          <a:ln/>
        </p:spPr>
        <p:txBody>
          <a:bodyPr wrap="square" lIns="0" tIns="0" rIns="0" bIns="0" rtlCol="0" anchor="ctr"/>
          <a:lstStyle/>
          <a:p>
            <a:pPr algn="ctr" indent="0" marL="0">
              <a:buNone/>
            </a:pPr>
            <a:r>
              <a:rPr lang="en-US" sz="5400" b="1" dirty="0">
                <a:solidFill>
                  <a:schemeClr val="tx1"/>
                </a:solidFill>
                <a:latin typeface="Arial" pitchFamily="34" charset="0"/>
                <a:ea typeface="Arial" pitchFamily="34" charset="-122"/>
                <a:cs typeface="Arial" pitchFamily="34" charset="-120"/>
              </a:rPr>
              <a:t>MA</a:t>
            </a:r>
            <a:endParaRPr lang="en-US" sz="5400" dirty="0"/>
          </a:p>
        </p:txBody>
      </p:sp>
      <p:pic>
        <p:nvPicPr>
          <p:cNvPr id="11" name="sound-icon" descr="preencoded.png">    </p:cNvPr>
          <p:cNvPicPr>
            <a:picLocks noChangeAspect="1"/>
          </p:cNvPicPr>
          <p:nvPr/>
        </p:nvPicPr>
        <p:blipFill>
          <a:blip r:embed="rId1"/>
          <a:stretch>
            <a:fillRect/>
          </a:stretch>
        </p:blipFill>
        <p:spPr>
          <a:xfrm>
            <a:off x="6446520" y="3703320"/>
            <a:ext cx="320040" cy="320040"/>
          </a:xfrm>
          <a:prstGeom prst="rect">
            <a:avLst/>
          </a:prstGeom>
        </p:spPr>
      </p:pic>
      <p:sp>
        <p:nvSpPr>
          <p:cNvPr id="12" name="text-10"/>
          <p:cNvSpPr txBox="1"/>
          <p:nvPr/>
        </p:nvSpPr>
        <p:spPr>
          <a:xfrm>
            <a:off x="6858000" y="3639312"/>
            <a:ext cx="1645920" cy="457200"/>
          </a:xfrm>
          <a:prstGeom prst="rect">
            <a:avLst/>
          </a:prstGeom>
          <a:noFill/>
          <a:ln/>
        </p:spPr>
        <p:txBody>
          <a:bodyPr wrap="square" lIns="0" tIns="0" rIns="0" bIns="0" rtlCol="0" anchor="ctr"/>
          <a:lstStyle/>
          <a:p>
            <a:pPr indent="0" marL="0">
              <a:buNone/>
            </a:pPr>
            <a:r>
              <a:rPr lang="en-US" sz="2000" i="1" dirty="0">
                <a:solidFill>
                  <a:schemeClr val="bg1"/>
                </a:solidFill>
              </a:rPr>
              <a:t>«mmmaaa»</a:t>
            </a:r>
            <a:endParaRPr lang="en-US" sz="2000" dirty="0"/>
          </a:p>
        </p:txBody>
      </p:sp>
      <p:sp>
        <p:nvSpPr>
          <p:cNvPr id="14" name="Text 0"/>
          <p:cNvSpPr/>
          <p:nvPr>
            <p:ph idx="100" type="title" hasCustomPrompt="1"/>
          </p:nvPr>
        </p:nvSpPr>
        <p:spPr>
          <a:xfrm>
            <a:off x="548640" y="411480"/>
            <a:ext cx="8046720" cy="731520"/>
          </a:xfrm>
          <a:prstGeom prst="rect">
            <a:avLst/>
          </a:prstGeom>
          <a:noFill/>
          <a:ln/>
        </p:spPr>
        <p:txBody>
          <a:bodyPr wrap="square" lIns="0" tIns="0" rIns="0" bIns="0" rtlCol="0" anchor="ctr"/>
          <a:lstStyle/>
          <a:p>
            <a:pPr indent="0" marL="0">
              <a:buNone/>
            </a:pP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chemeClr val="tx2"/>
                </a:solidFill>
                <a:latin typeface="Bookman Old Style" pitchFamily="34" charset="0"/>
                <a:ea typeface="Bookman Old Style" pitchFamily="34" charset="-122"/>
                <a:cs typeface="Bookman Old Style" pitchFamily="34" charset="-120"/>
              </a:rPr>
              <a:t>Objetivo del proyecto</a:t>
            </a:r>
            <a:endParaRPr lang="en-US" sz="3000" dirty="0"/>
          </a:p>
        </p:txBody>
      </p:sp>
      <p:sp>
        <p:nvSpPr>
          <p:cNvPr id="3" name="card-11"/>
          <p:cNvSpPr/>
          <p:nvPr/>
        </p:nvSpPr>
        <p:spPr>
          <a:xfrm>
            <a:off x="457200" y="1097280"/>
            <a:ext cx="4937760" cy="1783080"/>
          </a:xfrm>
          <a:prstGeom prst="roundRect">
            <a:avLst>
              <a:gd name="adj" fmla="val 6154"/>
            </a:avLst>
          </a:prstGeom>
          <a:solidFill>
            <a:schemeClr val="bg2"/>
          </a:solidFill>
          <a:ln/>
        </p:spPr>
      </p:sp>
      <p:sp>
        <p:nvSpPr>
          <p:cNvPr id="4" name="text-12"/>
          <p:cNvSpPr txBox="1"/>
          <p:nvPr/>
        </p:nvSpPr>
        <p:spPr>
          <a:xfrm>
            <a:off x="731520" y="1234440"/>
            <a:ext cx="4434840" cy="1508760"/>
          </a:xfrm>
          <a:prstGeom prst="rect">
            <a:avLst/>
          </a:prstGeom>
          <a:noFill/>
          <a:ln/>
        </p:spPr>
        <p:txBody>
          <a:bodyPr wrap="square" lIns="0" tIns="0" rIns="0" bIns="0" rtlCol="0" anchor="ctr"/>
          <a:lstStyle/>
          <a:p>
            <a:pPr indent="0" marL="0">
              <a:buNone/>
            </a:pPr>
            <a:r>
              <a:rPr lang="en-US" sz="2000" b="1" dirty="0">
                <a:solidFill>
                  <a:schemeClr val="tx2"/>
                </a:solidFill>
              </a:rPr>
              <a:t>Reforzar el aprendizaje inicial de la lectura en niños con NEE, usando sonidos, imágenes reales y pictogramas.</a:t>
            </a:r>
            <a:endParaRPr lang="en-US" sz="2000" dirty="0"/>
          </a:p>
        </p:txBody>
      </p:sp>
      <p:sp>
        <p:nvSpPr>
          <p:cNvPr id="5" name="icon-bg-13"/>
          <p:cNvSpPr/>
          <p:nvPr/>
        </p:nvSpPr>
        <p:spPr>
          <a:xfrm>
            <a:off x="457200" y="3154680"/>
            <a:ext cx="502920" cy="502920"/>
          </a:xfrm>
          <a:prstGeom prst="ellipse">
            <a:avLst/>
          </a:prstGeom>
          <a:solidFill>
            <a:schemeClr val="accent1"/>
          </a:solidFill>
          <a:ln/>
        </p:spPr>
      </p:sp>
      <p:pic>
        <p:nvPicPr>
          <p:cNvPr id="6" name="icon-14" descr="preencoded.png">    </p:cNvPr>
          <p:cNvPicPr>
            <a:picLocks noChangeAspect="1"/>
          </p:cNvPicPr>
          <p:nvPr/>
        </p:nvPicPr>
        <p:blipFill>
          <a:blip r:embed="rId1"/>
          <a:stretch>
            <a:fillRect/>
          </a:stretch>
        </p:blipFill>
        <p:spPr>
          <a:xfrm>
            <a:off x="587959" y="3285439"/>
            <a:ext cx="241402" cy="241402"/>
          </a:xfrm>
          <a:prstGeom prst="rect">
            <a:avLst/>
          </a:prstGeom>
        </p:spPr>
      </p:pic>
      <p:sp>
        <p:nvSpPr>
          <p:cNvPr id="7" name="text-15"/>
          <p:cNvSpPr txBox="1"/>
          <p:nvPr/>
        </p:nvSpPr>
        <p:spPr>
          <a:xfrm>
            <a:off x="1143000" y="3108960"/>
            <a:ext cx="4251960" cy="640080"/>
          </a:xfrm>
          <a:prstGeom prst="rect">
            <a:avLst/>
          </a:prstGeom>
          <a:noFill/>
          <a:ln/>
        </p:spPr>
        <p:txBody>
          <a:bodyPr wrap="square" lIns="0" tIns="0" rIns="0" bIns="0" rtlCol="0" anchor="ctr"/>
          <a:lstStyle/>
          <a:p>
            <a:pPr indent="0" marL="0">
              <a:buNone/>
            </a:pPr>
            <a:r>
              <a:rPr lang="en-US" sz="1400" b="1" dirty="0">
                <a:solidFill>
                  <a:schemeClr val="tx1"/>
                </a:solidFill>
              </a:rPr>
              <a:t>Foco fonoaudiológico: </a:t>
            </a:r>
            <a:pPr indent="0" marL="0">
              <a:buNone/>
            </a:pPr>
            <a:r>
              <a:rPr lang="en-US" sz="1400" dirty="0">
                <a:solidFill>
                  <a:schemeClr val="tx1"/>
                </a:solidFill>
              </a:rPr>
              <a:t>el sonido de cada letra, unir sonidos en sílabas y formar palabras simples.</a:t>
            </a:r>
            <a:endParaRPr lang="en-US" sz="1400" dirty="0"/>
          </a:p>
        </p:txBody>
      </p:sp>
      <p:sp>
        <p:nvSpPr>
          <p:cNvPr id="8" name="icon-bg-16"/>
          <p:cNvSpPr/>
          <p:nvPr/>
        </p:nvSpPr>
        <p:spPr>
          <a:xfrm>
            <a:off x="457200" y="3931920"/>
            <a:ext cx="502920" cy="502920"/>
          </a:xfrm>
          <a:prstGeom prst="ellipse">
            <a:avLst/>
          </a:prstGeom>
          <a:solidFill>
            <a:schemeClr val="accent2"/>
          </a:solidFill>
          <a:ln/>
        </p:spPr>
      </p:sp>
      <p:pic>
        <p:nvPicPr>
          <p:cNvPr id="9" name="icon-17" descr="preencoded.png">    </p:cNvPr>
          <p:cNvPicPr>
            <a:picLocks noChangeAspect="1"/>
          </p:cNvPicPr>
          <p:nvPr/>
        </p:nvPicPr>
        <p:blipFill>
          <a:blip r:embed="rId2"/>
          <a:stretch>
            <a:fillRect/>
          </a:stretch>
        </p:blipFill>
        <p:spPr>
          <a:xfrm>
            <a:off x="587959" y="4062679"/>
            <a:ext cx="241402" cy="241402"/>
          </a:xfrm>
          <a:prstGeom prst="rect">
            <a:avLst/>
          </a:prstGeom>
        </p:spPr>
      </p:pic>
      <p:sp>
        <p:nvSpPr>
          <p:cNvPr id="10" name="text-18"/>
          <p:cNvSpPr txBox="1"/>
          <p:nvPr/>
        </p:nvSpPr>
        <p:spPr>
          <a:xfrm>
            <a:off x="1143000" y="3886200"/>
            <a:ext cx="4251960" cy="640080"/>
          </a:xfrm>
          <a:prstGeom prst="rect">
            <a:avLst/>
          </a:prstGeom>
          <a:noFill/>
          <a:ln/>
        </p:spPr>
        <p:txBody>
          <a:bodyPr wrap="square" lIns="0" tIns="0" rIns="0" bIns="0" rtlCol="0" anchor="ctr"/>
          <a:lstStyle/>
          <a:p>
            <a:pPr indent="0" marL="0">
              <a:buNone/>
            </a:pPr>
            <a:r>
              <a:rPr lang="en-US" sz="1400" b="1" dirty="0">
                <a:solidFill>
                  <a:schemeClr val="tx1"/>
                </a:solidFill>
              </a:rPr>
              <a:t>Apoyo visual: </a:t>
            </a:r>
            <a:pPr indent="0" marL="0">
              <a:buNone/>
            </a:pPr>
            <a:r>
              <a:rPr lang="en-US" sz="1400" dirty="0">
                <a:solidFill>
                  <a:schemeClr val="tx1"/>
                </a:solidFill>
              </a:rPr>
              <a:t>de la imagen real al pictograma, igual que como trabajan en la sala.</a:t>
            </a:r>
            <a:endParaRPr lang="en-US" sz="1400" dirty="0"/>
          </a:p>
        </p:txBody>
      </p:sp>
      <p:sp>
        <p:nvSpPr>
          <p:cNvPr id="11" name="card-19"/>
          <p:cNvSpPr/>
          <p:nvPr/>
        </p:nvSpPr>
        <p:spPr>
          <a:xfrm>
            <a:off x="5760720" y="1097280"/>
            <a:ext cx="2926080" cy="1024128"/>
          </a:xfrm>
          <a:prstGeom prst="roundRect">
            <a:avLst>
              <a:gd name="adj" fmla="val 10714"/>
            </a:avLst>
          </a:prstGeom>
          <a:solidFill>
            <a:schemeClr val="bg1"/>
          </a:solidFill>
          <a:ln w="12700">
            <a:solidFill>
              <a:srgbClr val="D3DCE3"/>
            </a:solidFill>
            <a:prstDash val="solid"/>
          </a:ln>
          <a:effectLst>
            <a:outerShdw sx="100000" sy="100000" kx="0" ky="0" algn="bl" rotWithShape="0" blurRad="76200" dist="25400" dir="5400000">
              <a:srgbClr val="1E2A36">
                <a:alpha val="12000"/>
              </a:srgbClr>
            </a:outerShdw>
          </a:effectLst>
        </p:spPr>
      </p:sp>
      <p:sp>
        <p:nvSpPr>
          <p:cNvPr id="12" name="text-20"/>
          <p:cNvSpPr txBox="1"/>
          <p:nvPr/>
        </p:nvSpPr>
        <p:spPr>
          <a:xfrm>
            <a:off x="5897880" y="1097280"/>
            <a:ext cx="1097280" cy="1024128"/>
          </a:xfrm>
          <a:prstGeom prst="rect">
            <a:avLst/>
          </a:prstGeom>
          <a:noFill/>
          <a:ln/>
        </p:spPr>
        <p:txBody>
          <a:bodyPr wrap="square" lIns="0" tIns="0" rIns="0" bIns="0" rtlCol="0" anchor="ctr"/>
          <a:lstStyle/>
          <a:p>
            <a:pPr algn="ctr" indent="0" marL="0">
              <a:buNone/>
            </a:pPr>
            <a:r>
              <a:rPr lang="en-US" sz="3600" b="1" dirty="0">
                <a:solidFill>
                  <a:schemeClr val="accent3"/>
                </a:solidFill>
                <a:latin typeface="Arial" pitchFamily="34" charset="0"/>
                <a:ea typeface="Arial" pitchFamily="34" charset="-122"/>
                <a:cs typeface="Arial" pitchFamily="34" charset="-120"/>
              </a:rPr>
              <a:t>22</a:t>
            </a:r>
            <a:endParaRPr lang="en-US" sz="3600" dirty="0"/>
          </a:p>
        </p:txBody>
      </p:sp>
      <p:sp>
        <p:nvSpPr>
          <p:cNvPr id="13" name="text-21"/>
          <p:cNvSpPr txBox="1"/>
          <p:nvPr/>
        </p:nvSpPr>
        <p:spPr>
          <a:xfrm>
            <a:off x="7086600" y="1097280"/>
            <a:ext cx="1463040" cy="1024128"/>
          </a:xfrm>
          <a:prstGeom prst="rect">
            <a:avLst/>
          </a:prstGeom>
          <a:noFill/>
          <a:ln/>
        </p:spPr>
        <p:txBody>
          <a:bodyPr wrap="square" lIns="0" tIns="0" rIns="0" bIns="0" rtlCol="0" anchor="ctr"/>
          <a:lstStyle/>
          <a:p>
            <a:pPr indent="0" marL="0">
              <a:buNone/>
            </a:pPr>
            <a:r>
              <a:rPr lang="en-US" sz="1400" dirty="0">
                <a:solidFill>
                  <a:schemeClr val="tx1"/>
                </a:solidFill>
              </a:rPr>
              <a:t>estudiantes de Pre-Kínder y Kínder</a:t>
            </a:r>
            <a:endParaRPr lang="en-US" sz="1400" dirty="0"/>
          </a:p>
        </p:txBody>
      </p:sp>
      <p:sp>
        <p:nvSpPr>
          <p:cNvPr id="14" name="card-22"/>
          <p:cNvSpPr/>
          <p:nvPr/>
        </p:nvSpPr>
        <p:spPr>
          <a:xfrm>
            <a:off x="5760720" y="2304288"/>
            <a:ext cx="2926080" cy="1024128"/>
          </a:xfrm>
          <a:prstGeom prst="roundRect">
            <a:avLst>
              <a:gd name="adj" fmla="val 10714"/>
            </a:avLst>
          </a:prstGeom>
          <a:solidFill>
            <a:schemeClr val="bg1"/>
          </a:solidFill>
          <a:ln w="12700">
            <a:solidFill>
              <a:srgbClr val="D3DCE3"/>
            </a:solidFill>
            <a:prstDash val="solid"/>
          </a:ln>
          <a:effectLst>
            <a:outerShdw sx="100000" sy="100000" kx="0" ky="0" algn="bl" rotWithShape="0" blurRad="76200" dist="25400" dir="5400000">
              <a:srgbClr val="1E2A36">
                <a:alpha val="12000"/>
              </a:srgbClr>
            </a:outerShdw>
          </a:effectLst>
        </p:spPr>
      </p:sp>
      <p:sp>
        <p:nvSpPr>
          <p:cNvPr id="15" name="text-23"/>
          <p:cNvSpPr txBox="1"/>
          <p:nvPr/>
        </p:nvSpPr>
        <p:spPr>
          <a:xfrm>
            <a:off x="5897880" y="2304288"/>
            <a:ext cx="1097280" cy="1024128"/>
          </a:xfrm>
          <a:prstGeom prst="rect">
            <a:avLst/>
          </a:prstGeom>
          <a:noFill/>
          <a:ln/>
        </p:spPr>
        <p:txBody>
          <a:bodyPr wrap="square" lIns="0" tIns="0" rIns="0" bIns="0" rtlCol="0" anchor="ctr"/>
          <a:lstStyle/>
          <a:p>
            <a:pPr algn="ctr" indent="0" marL="0">
              <a:buNone/>
            </a:pPr>
            <a:r>
              <a:rPr lang="en-US" sz="3600" b="1" dirty="0">
                <a:solidFill>
                  <a:schemeClr val="accent4"/>
                </a:solidFill>
                <a:latin typeface="Arial" pitchFamily="34" charset="0"/>
                <a:ea typeface="Arial" pitchFamily="34" charset="-122"/>
                <a:cs typeface="Arial" pitchFamily="34" charset="-120"/>
              </a:rPr>
              <a:t>115</a:t>
            </a:r>
            <a:endParaRPr lang="en-US" sz="3600" dirty="0"/>
          </a:p>
        </p:txBody>
      </p:sp>
      <p:sp>
        <p:nvSpPr>
          <p:cNvPr id="16" name="text-24"/>
          <p:cNvSpPr txBox="1"/>
          <p:nvPr/>
        </p:nvSpPr>
        <p:spPr>
          <a:xfrm>
            <a:off x="7086600" y="2304288"/>
            <a:ext cx="1463040" cy="1024128"/>
          </a:xfrm>
          <a:prstGeom prst="rect">
            <a:avLst/>
          </a:prstGeom>
          <a:noFill/>
          <a:ln/>
        </p:spPr>
        <p:txBody>
          <a:bodyPr wrap="square" lIns="0" tIns="0" rIns="0" bIns="0" rtlCol="0" anchor="ctr"/>
          <a:lstStyle/>
          <a:p>
            <a:pPr indent="0" marL="0">
              <a:buNone/>
            </a:pPr>
            <a:r>
              <a:rPr lang="en-US" sz="1400" dirty="0">
                <a:solidFill>
                  <a:schemeClr val="tx1"/>
                </a:solidFill>
              </a:rPr>
              <a:t>estudiantes en el PIE del liceo</a:t>
            </a:r>
            <a:endParaRPr lang="en-US" sz="1400" dirty="0"/>
          </a:p>
        </p:txBody>
      </p:sp>
      <p:sp>
        <p:nvSpPr>
          <p:cNvPr id="17" name="card-25"/>
          <p:cNvSpPr/>
          <p:nvPr/>
        </p:nvSpPr>
        <p:spPr>
          <a:xfrm>
            <a:off x="5760720" y="3511296"/>
            <a:ext cx="2926080" cy="1024128"/>
          </a:xfrm>
          <a:prstGeom prst="roundRect">
            <a:avLst>
              <a:gd name="adj" fmla="val 10714"/>
            </a:avLst>
          </a:prstGeom>
          <a:solidFill>
            <a:schemeClr val="bg1"/>
          </a:solidFill>
          <a:ln w="12700">
            <a:solidFill>
              <a:srgbClr val="D3DCE3"/>
            </a:solidFill>
            <a:prstDash val="solid"/>
          </a:ln>
          <a:effectLst>
            <a:outerShdw sx="100000" sy="100000" kx="0" ky="0" algn="bl" rotWithShape="0" blurRad="76200" dist="25400" dir="5400000">
              <a:srgbClr val="1E2A36">
                <a:alpha val="12000"/>
              </a:srgbClr>
            </a:outerShdw>
          </a:effectLst>
        </p:spPr>
      </p:sp>
      <p:sp>
        <p:nvSpPr>
          <p:cNvPr id="18" name="text-26"/>
          <p:cNvSpPr txBox="1"/>
          <p:nvPr/>
        </p:nvSpPr>
        <p:spPr>
          <a:xfrm>
            <a:off x="5897880" y="3511296"/>
            <a:ext cx="1097280" cy="1024128"/>
          </a:xfrm>
          <a:prstGeom prst="rect">
            <a:avLst/>
          </a:prstGeom>
          <a:noFill/>
          <a:ln/>
        </p:spPr>
        <p:txBody>
          <a:bodyPr wrap="square" lIns="0" tIns="0" rIns="0" bIns="0" rtlCol="0" anchor="ctr"/>
          <a:lstStyle/>
          <a:p>
            <a:pPr algn="ctr" indent="0" marL="0">
              <a:buNone/>
            </a:pPr>
            <a:r>
              <a:rPr lang="en-US" sz="3600" b="1" dirty="0">
                <a:solidFill>
                  <a:schemeClr val="accent2"/>
                </a:solidFill>
                <a:latin typeface="Arial" pitchFamily="34" charset="0"/>
                <a:ea typeface="Arial" pitchFamily="34" charset="-122"/>
                <a:cs typeface="Arial" pitchFamily="34" charset="-120"/>
              </a:rPr>
              <a:t>4–6</a:t>
            </a:r>
            <a:endParaRPr lang="en-US" sz="3600" dirty="0"/>
          </a:p>
        </p:txBody>
      </p:sp>
      <p:sp>
        <p:nvSpPr>
          <p:cNvPr id="19" name="text-27"/>
          <p:cNvSpPr txBox="1"/>
          <p:nvPr/>
        </p:nvSpPr>
        <p:spPr>
          <a:xfrm>
            <a:off x="7086600" y="3511296"/>
            <a:ext cx="1463040" cy="1024128"/>
          </a:xfrm>
          <a:prstGeom prst="rect">
            <a:avLst/>
          </a:prstGeom>
          <a:noFill/>
          <a:ln/>
        </p:spPr>
        <p:txBody>
          <a:bodyPr wrap="square" lIns="0" tIns="0" rIns="0" bIns="0" rtlCol="0" anchor="ctr"/>
          <a:lstStyle/>
          <a:p>
            <a:pPr indent="0" marL="0">
              <a:buNone/>
            </a:pPr>
            <a:r>
              <a:rPr lang="en-US" sz="1400" dirty="0">
                <a:solidFill>
                  <a:schemeClr val="tx1"/>
                </a:solidFill>
              </a:rPr>
              <a:t>años tienen nuestros usuarios</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chemeClr val="tx2"/>
                </a:solidFill>
                <a:latin typeface="Bookman Old Style" pitchFamily="34" charset="0"/>
                <a:ea typeface="Bookman Old Style" pitchFamily="34" charset="-122"/>
                <a:cs typeface="Bookman Old Style" pitchFamily="34" charset="-120"/>
              </a:rPr>
              <a:t>El desafío que nos plantearon</a:t>
            </a:r>
            <a:endParaRPr lang="en-US" sz="3000" dirty="0"/>
          </a:p>
        </p:txBody>
      </p:sp>
      <p:sp>
        <p:nvSpPr>
          <p:cNvPr id="3" name="card-28"/>
          <p:cNvSpPr/>
          <p:nvPr/>
        </p:nvSpPr>
        <p:spPr>
          <a:xfrm>
            <a:off x="457200" y="1051560"/>
            <a:ext cx="4023360" cy="2103120"/>
          </a:xfrm>
          <a:prstGeom prst="roundRect">
            <a:avLst>
              <a:gd name="adj" fmla="val 5217"/>
            </a:avLst>
          </a:prstGeom>
          <a:solidFill>
            <a:srgbClr val="FBEAE7"/>
          </a:solidFill>
          <a:ln/>
        </p:spPr>
      </p:sp>
      <p:sp>
        <p:nvSpPr>
          <p:cNvPr id="4" name="text-29"/>
          <p:cNvSpPr txBox="1"/>
          <p:nvPr/>
        </p:nvSpPr>
        <p:spPr>
          <a:xfrm>
            <a:off x="731520" y="1188720"/>
            <a:ext cx="3474720" cy="320040"/>
          </a:xfrm>
          <a:prstGeom prst="rect">
            <a:avLst/>
          </a:prstGeom>
          <a:noFill/>
          <a:ln/>
        </p:spPr>
        <p:txBody>
          <a:bodyPr wrap="square" lIns="0" tIns="0" rIns="0" bIns="0" rtlCol="0" anchor="t"/>
          <a:lstStyle/>
          <a:p>
            <a:pPr indent="0" marL="0">
              <a:buNone/>
            </a:pPr>
            <a:r>
              <a:rPr lang="en-US" sz="1500" b="1" dirty="0">
                <a:solidFill>
                  <a:schemeClr val="tx2"/>
                </a:solidFill>
              </a:rPr>
              <a:t>Otros programas</a:t>
            </a:r>
            <a:endParaRPr lang="en-US" sz="1500" dirty="0"/>
          </a:p>
        </p:txBody>
      </p:sp>
      <p:sp>
        <p:nvSpPr>
          <p:cNvPr id="5" name="tile-30"/>
          <p:cNvSpPr/>
          <p:nvPr/>
        </p:nvSpPr>
        <p:spPr>
          <a:xfrm>
            <a:off x="731520" y="1645920"/>
            <a:ext cx="914400" cy="731520"/>
          </a:xfrm>
          <a:prstGeom prst="roundRect">
            <a:avLst>
              <a:gd name="adj" fmla="val 15000"/>
            </a:avLst>
          </a:prstGeom>
          <a:solidFill>
            <a:schemeClr val="tx2"/>
          </a:solid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MA</a:t>
            </a:r>
            <a:endParaRPr lang="en-US" sz="2800" dirty="0"/>
          </a:p>
        </p:txBody>
      </p:sp>
      <p:pic>
        <p:nvPicPr>
          <p:cNvPr id="6" name="arrow-31" descr="preencoded.png">    </p:cNvPr>
          <p:cNvPicPr>
            <a:picLocks noChangeAspect="1"/>
          </p:cNvPicPr>
          <p:nvPr/>
        </p:nvPicPr>
        <p:blipFill>
          <a:blip r:embed="rId1"/>
          <a:stretch>
            <a:fillRect/>
          </a:stretch>
        </p:blipFill>
        <p:spPr>
          <a:xfrm>
            <a:off x="1783080" y="1892808"/>
            <a:ext cx="256032" cy="256032"/>
          </a:xfrm>
          <a:prstGeom prst="rect">
            <a:avLst/>
          </a:prstGeom>
        </p:spPr>
      </p:pic>
      <p:sp>
        <p:nvSpPr>
          <p:cNvPr id="7" name="text-32"/>
          <p:cNvSpPr txBox="1"/>
          <p:nvPr/>
        </p:nvSpPr>
        <p:spPr>
          <a:xfrm>
            <a:off x="2148840" y="1645920"/>
            <a:ext cx="1600200" cy="731520"/>
          </a:xfrm>
          <a:prstGeom prst="rect">
            <a:avLst/>
          </a:prstGeom>
          <a:noFill/>
          <a:ln/>
        </p:spPr>
        <p:txBody>
          <a:bodyPr wrap="square" lIns="0" tIns="0" rIns="0" bIns="0" rtlCol="0" anchor="ctr"/>
          <a:lstStyle/>
          <a:p>
            <a:pPr indent="0" marL="0">
              <a:buNone/>
            </a:pPr>
            <a:r>
              <a:rPr lang="en-US" sz="2200" b="1" i="1" dirty="0">
                <a:solidFill>
                  <a:schemeClr val="tx1"/>
                </a:solidFill>
              </a:rPr>
              <a:t>«eme… a»</a:t>
            </a:r>
            <a:endParaRPr lang="en-US" sz="2200" dirty="0"/>
          </a:p>
        </p:txBody>
      </p:sp>
      <p:sp>
        <p:nvSpPr>
          <p:cNvPr id="8" name="icon-bg-33"/>
          <p:cNvSpPr/>
          <p:nvPr/>
        </p:nvSpPr>
        <p:spPr>
          <a:xfrm>
            <a:off x="3749040" y="1783080"/>
            <a:ext cx="457200" cy="457200"/>
          </a:xfrm>
          <a:prstGeom prst="ellipse">
            <a:avLst/>
          </a:prstGeom>
          <a:solidFill>
            <a:schemeClr val="accent3"/>
          </a:solidFill>
          <a:ln/>
        </p:spPr>
      </p:sp>
      <p:pic>
        <p:nvPicPr>
          <p:cNvPr id="9" name="icon-34" descr="preencoded.png">    </p:cNvPr>
          <p:cNvPicPr>
            <a:picLocks noChangeAspect="1"/>
          </p:cNvPicPr>
          <p:nvPr/>
        </p:nvPicPr>
        <p:blipFill>
          <a:blip r:embed="rId2"/>
          <a:stretch>
            <a:fillRect/>
          </a:stretch>
        </p:blipFill>
        <p:spPr>
          <a:xfrm>
            <a:off x="3867912" y="1901952"/>
            <a:ext cx="219456" cy="219456"/>
          </a:xfrm>
          <a:prstGeom prst="rect">
            <a:avLst/>
          </a:prstGeom>
        </p:spPr>
      </p:pic>
      <p:sp>
        <p:nvSpPr>
          <p:cNvPr id="10" name="text-35"/>
          <p:cNvSpPr txBox="1"/>
          <p:nvPr/>
        </p:nvSpPr>
        <p:spPr>
          <a:xfrm>
            <a:off x="731520" y="2514600"/>
            <a:ext cx="3474720" cy="502920"/>
          </a:xfrm>
          <a:prstGeom prst="rect">
            <a:avLst/>
          </a:prstGeom>
          <a:noFill/>
          <a:ln/>
        </p:spPr>
        <p:txBody>
          <a:bodyPr wrap="square" lIns="0" tIns="0" rIns="0" bIns="0" rtlCol="0" anchor="t"/>
          <a:lstStyle/>
          <a:p>
            <a:pPr indent="0" marL="0">
              <a:buNone/>
            </a:pPr>
            <a:r>
              <a:rPr lang="en-US" sz="1400" dirty="0">
                <a:solidFill>
                  <a:schemeClr val="tx1"/>
                </a:solidFill>
              </a:rPr>
              <a:t>Nombran las letras: el niño no logra unir los sonidos.</a:t>
            </a:r>
            <a:endParaRPr lang="en-US" sz="1400" dirty="0"/>
          </a:p>
        </p:txBody>
      </p:sp>
      <p:sp>
        <p:nvSpPr>
          <p:cNvPr id="11" name="card-36"/>
          <p:cNvSpPr/>
          <p:nvPr/>
        </p:nvSpPr>
        <p:spPr>
          <a:xfrm>
            <a:off x="4663440" y="1051560"/>
            <a:ext cx="4023360" cy="2103120"/>
          </a:xfrm>
          <a:prstGeom prst="roundRect">
            <a:avLst>
              <a:gd name="adj" fmla="val 5217"/>
            </a:avLst>
          </a:prstGeom>
          <a:solidFill>
            <a:srgbClr val="E3F1EC"/>
          </a:solidFill>
          <a:ln/>
        </p:spPr>
      </p:sp>
      <p:sp>
        <p:nvSpPr>
          <p:cNvPr id="12" name="text-37"/>
          <p:cNvSpPr txBox="1"/>
          <p:nvPr/>
        </p:nvSpPr>
        <p:spPr>
          <a:xfrm>
            <a:off x="4937760" y="1188720"/>
            <a:ext cx="3474720" cy="320040"/>
          </a:xfrm>
          <a:prstGeom prst="rect">
            <a:avLst/>
          </a:prstGeom>
          <a:noFill/>
          <a:ln/>
        </p:spPr>
        <p:txBody>
          <a:bodyPr wrap="square" lIns="0" tIns="0" rIns="0" bIns="0" rtlCol="0" anchor="t"/>
          <a:lstStyle/>
          <a:p>
            <a:pPr indent="0" marL="0">
              <a:buNone/>
            </a:pPr>
            <a:r>
              <a:rPr lang="en-US" sz="1500" b="1" dirty="0">
                <a:solidFill>
                  <a:schemeClr val="tx2"/>
                </a:solidFill>
              </a:rPr>
              <a:t>Lo que necesitan las educadoras</a:t>
            </a:r>
            <a:endParaRPr lang="en-US" sz="1500" dirty="0"/>
          </a:p>
        </p:txBody>
      </p:sp>
      <p:sp>
        <p:nvSpPr>
          <p:cNvPr id="13" name="tile-38"/>
          <p:cNvSpPr/>
          <p:nvPr/>
        </p:nvSpPr>
        <p:spPr>
          <a:xfrm>
            <a:off x="4937760" y="1645920"/>
            <a:ext cx="914400" cy="731520"/>
          </a:xfrm>
          <a:prstGeom prst="roundRect">
            <a:avLst>
              <a:gd name="adj" fmla="val 15000"/>
            </a:avLst>
          </a:prstGeom>
          <a:solidFill>
            <a:schemeClr val="tx2"/>
          </a:solid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MA</a:t>
            </a:r>
            <a:endParaRPr lang="en-US" sz="2800" dirty="0"/>
          </a:p>
        </p:txBody>
      </p:sp>
      <p:pic>
        <p:nvPicPr>
          <p:cNvPr id="14" name="arrow-39" descr="preencoded.png">    </p:cNvPr>
          <p:cNvPicPr>
            <a:picLocks noChangeAspect="1"/>
          </p:cNvPicPr>
          <p:nvPr/>
        </p:nvPicPr>
        <p:blipFill>
          <a:blip r:embed="rId3"/>
          <a:stretch>
            <a:fillRect/>
          </a:stretch>
        </p:blipFill>
        <p:spPr>
          <a:xfrm>
            <a:off x="5989320" y="1892808"/>
            <a:ext cx="256032" cy="256032"/>
          </a:xfrm>
          <a:prstGeom prst="rect">
            <a:avLst/>
          </a:prstGeom>
        </p:spPr>
      </p:pic>
      <p:sp>
        <p:nvSpPr>
          <p:cNvPr id="15" name="text-40"/>
          <p:cNvSpPr txBox="1"/>
          <p:nvPr/>
        </p:nvSpPr>
        <p:spPr>
          <a:xfrm>
            <a:off x="6355080" y="1645920"/>
            <a:ext cx="1600200" cy="731520"/>
          </a:xfrm>
          <a:prstGeom prst="rect">
            <a:avLst/>
          </a:prstGeom>
          <a:noFill/>
          <a:ln/>
        </p:spPr>
        <p:txBody>
          <a:bodyPr wrap="square" lIns="0" tIns="0" rIns="0" bIns="0" rtlCol="0" anchor="ctr"/>
          <a:lstStyle/>
          <a:p>
            <a:pPr indent="0" marL="0">
              <a:buNone/>
            </a:pPr>
            <a:r>
              <a:rPr lang="en-US" sz="2200" b="1" i="1" dirty="0">
                <a:solidFill>
                  <a:schemeClr val="tx1"/>
                </a:solidFill>
              </a:rPr>
              <a:t>«mmmaaa»</a:t>
            </a:r>
            <a:endParaRPr lang="en-US" sz="2200" dirty="0"/>
          </a:p>
        </p:txBody>
      </p:sp>
      <p:sp>
        <p:nvSpPr>
          <p:cNvPr id="16" name="icon-bg-41"/>
          <p:cNvSpPr/>
          <p:nvPr/>
        </p:nvSpPr>
        <p:spPr>
          <a:xfrm>
            <a:off x="7955280" y="1783080"/>
            <a:ext cx="457200" cy="457200"/>
          </a:xfrm>
          <a:prstGeom prst="ellipse">
            <a:avLst/>
          </a:prstGeom>
          <a:solidFill>
            <a:schemeClr val="accent2"/>
          </a:solidFill>
          <a:ln/>
        </p:spPr>
      </p:sp>
      <p:pic>
        <p:nvPicPr>
          <p:cNvPr id="17" name="icon-42" descr="preencoded.png">    </p:cNvPr>
          <p:cNvPicPr>
            <a:picLocks noChangeAspect="1"/>
          </p:cNvPicPr>
          <p:nvPr/>
        </p:nvPicPr>
        <p:blipFill>
          <a:blip r:embed="rId4"/>
          <a:stretch>
            <a:fillRect/>
          </a:stretch>
        </p:blipFill>
        <p:spPr>
          <a:xfrm>
            <a:off x="8074152" y="1901952"/>
            <a:ext cx="219456" cy="219456"/>
          </a:xfrm>
          <a:prstGeom prst="rect">
            <a:avLst/>
          </a:prstGeom>
        </p:spPr>
      </p:pic>
      <p:sp>
        <p:nvSpPr>
          <p:cNvPr id="18" name="text-43"/>
          <p:cNvSpPr txBox="1"/>
          <p:nvPr/>
        </p:nvSpPr>
        <p:spPr>
          <a:xfrm>
            <a:off x="4937760" y="2514600"/>
            <a:ext cx="3474720" cy="502920"/>
          </a:xfrm>
          <a:prstGeom prst="rect">
            <a:avLst/>
          </a:prstGeom>
          <a:noFill/>
          <a:ln/>
        </p:spPr>
        <p:txBody>
          <a:bodyPr wrap="square" lIns="0" tIns="0" rIns="0" bIns="0" rtlCol="0" anchor="t"/>
          <a:lstStyle/>
          <a:p>
            <a:pPr indent="0" marL="0">
              <a:buNone/>
            </a:pPr>
            <a:r>
              <a:rPr lang="en-US" sz="1400" dirty="0">
                <a:solidFill>
                  <a:schemeClr val="tx1"/>
                </a:solidFill>
              </a:rPr>
              <a:t>Sonido continuo, igual que el método fonético de la sala.</a:t>
            </a:r>
            <a:endParaRPr lang="en-US" sz="1400" dirty="0"/>
          </a:p>
        </p:txBody>
      </p:sp>
      <p:sp>
        <p:nvSpPr>
          <p:cNvPr id="19" name="card-44"/>
          <p:cNvSpPr/>
          <p:nvPr/>
        </p:nvSpPr>
        <p:spPr>
          <a:xfrm>
            <a:off x="457200" y="3383280"/>
            <a:ext cx="2606040" cy="1143000"/>
          </a:xfrm>
          <a:prstGeom prst="roundRect">
            <a:avLst>
              <a:gd name="adj" fmla="val 9600"/>
            </a:avLst>
          </a:prstGeom>
          <a:solidFill>
            <a:schemeClr val="bg1"/>
          </a:solidFill>
          <a:ln w="12700">
            <a:solidFill>
              <a:srgbClr val="D3DCE3"/>
            </a:solidFill>
            <a:prstDash val="solid"/>
          </a:ln>
          <a:effectLst>
            <a:outerShdw sx="100000" sy="100000" kx="0" ky="0" algn="bl" rotWithShape="0" blurRad="76200" dist="25400" dir="5400000">
              <a:srgbClr val="1E2A36">
                <a:alpha val="12000"/>
              </a:srgbClr>
            </a:outerShdw>
          </a:effectLst>
        </p:spPr>
      </p:sp>
      <p:sp>
        <p:nvSpPr>
          <p:cNvPr id="20" name="icon-bg-45"/>
          <p:cNvSpPr/>
          <p:nvPr/>
        </p:nvSpPr>
        <p:spPr>
          <a:xfrm>
            <a:off x="640080" y="3721608"/>
            <a:ext cx="457200" cy="457200"/>
          </a:xfrm>
          <a:prstGeom prst="ellipse">
            <a:avLst/>
          </a:prstGeom>
          <a:solidFill>
            <a:schemeClr val="accent4"/>
          </a:solidFill>
          <a:ln/>
        </p:spPr>
      </p:sp>
      <p:pic>
        <p:nvPicPr>
          <p:cNvPr id="21" name="icon-46" descr="preencoded.png">    </p:cNvPr>
          <p:cNvPicPr>
            <a:picLocks noChangeAspect="1"/>
          </p:cNvPicPr>
          <p:nvPr/>
        </p:nvPicPr>
        <p:blipFill>
          <a:blip r:embed="rId5"/>
          <a:stretch>
            <a:fillRect/>
          </a:stretch>
        </p:blipFill>
        <p:spPr>
          <a:xfrm>
            <a:off x="758952" y="3840480"/>
            <a:ext cx="219456" cy="219456"/>
          </a:xfrm>
          <a:prstGeom prst="rect">
            <a:avLst/>
          </a:prstGeom>
        </p:spPr>
      </p:pic>
      <p:sp>
        <p:nvSpPr>
          <p:cNvPr id="22" name="text-47"/>
          <p:cNvSpPr txBox="1"/>
          <p:nvPr/>
        </p:nvSpPr>
        <p:spPr>
          <a:xfrm>
            <a:off x="1234440" y="3474720"/>
            <a:ext cx="1691640" cy="960120"/>
          </a:xfrm>
          <a:prstGeom prst="rect">
            <a:avLst/>
          </a:prstGeom>
          <a:noFill/>
          <a:ln/>
        </p:spPr>
        <p:txBody>
          <a:bodyPr wrap="square" lIns="0" tIns="0" rIns="0" bIns="0" rtlCol="0" anchor="ctr"/>
          <a:lstStyle/>
          <a:p>
            <a:pPr indent="0" marL="0">
              <a:buNone/>
            </a:pPr>
            <a:r>
              <a:rPr lang="en-US" sz="1400" dirty="0">
                <a:solidFill>
                  <a:schemeClr val="tx1"/>
                </a:solidFill>
              </a:rPr>
              <a:t>Cada niño tiene dificultad con letras distintas</a:t>
            </a:r>
            <a:endParaRPr lang="en-US" sz="1400" dirty="0"/>
          </a:p>
        </p:txBody>
      </p:sp>
      <p:sp>
        <p:nvSpPr>
          <p:cNvPr id="23" name="card-48"/>
          <p:cNvSpPr/>
          <p:nvPr/>
        </p:nvSpPr>
        <p:spPr>
          <a:xfrm>
            <a:off x="3268980" y="3383280"/>
            <a:ext cx="2606040" cy="1143000"/>
          </a:xfrm>
          <a:prstGeom prst="roundRect">
            <a:avLst>
              <a:gd name="adj" fmla="val 9600"/>
            </a:avLst>
          </a:prstGeom>
          <a:solidFill>
            <a:schemeClr val="bg1"/>
          </a:solidFill>
          <a:ln w="12700">
            <a:solidFill>
              <a:srgbClr val="D3DCE3"/>
            </a:solidFill>
            <a:prstDash val="solid"/>
          </a:ln>
          <a:effectLst>
            <a:outerShdw sx="100000" sy="100000" kx="0" ky="0" algn="bl" rotWithShape="0" blurRad="76200" dist="25400" dir="5400000">
              <a:srgbClr val="1E2A36">
                <a:alpha val="12000"/>
              </a:srgbClr>
            </a:outerShdw>
          </a:effectLst>
        </p:spPr>
      </p:sp>
      <p:sp>
        <p:nvSpPr>
          <p:cNvPr id="24" name="icon-bg-49"/>
          <p:cNvSpPr/>
          <p:nvPr/>
        </p:nvSpPr>
        <p:spPr>
          <a:xfrm>
            <a:off x="3451860" y="3721608"/>
            <a:ext cx="457200" cy="457200"/>
          </a:xfrm>
          <a:prstGeom prst="ellipse">
            <a:avLst/>
          </a:prstGeom>
          <a:solidFill>
            <a:schemeClr val="accent1"/>
          </a:solidFill>
          <a:ln/>
        </p:spPr>
      </p:sp>
      <p:pic>
        <p:nvPicPr>
          <p:cNvPr id="25" name="icon-50" descr="preencoded.png">    </p:cNvPr>
          <p:cNvPicPr>
            <a:picLocks noChangeAspect="1"/>
          </p:cNvPicPr>
          <p:nvPr/>
        </p:nvPicPr>
        <p:blipFill>
          <a:blip r:embed="rId6"/>
          <a:stretch>
            <a:fillRect/>
          </a:stretch>
        </p:blipFill>
        <p:spPr>
          <a:xfrm>
            <a:off x="3570732" y="3840480"/>
            <a:ext cx="219456" cy="219456"/>
          </a:xfrm>
          <a:prstGeom prst="rect">
            <a:avLst/>
          </a:prstGeom>
        </p:spPr>
      </p:pic>
      <p:sp>
        <p:nvSpPr>
          <p:cNvPr id="26" name="text-51"/>
          <p:cNvSpPr txBox="1"/>
          <p:nvPr/>
        </p:nvSpPr>
        <p:spPr>
          <a:xfrm>
            <a:off x="4046220" y="3474720"/>
            <a:ext cx="1691640" cy="960120"/>
          </a:xfrm>
          <a:prstGeom prst="rect">
            <a:avLst/>
          </a:prstGeom>
          <a:noFill/>
          <a:ln/>
        </p:spPr>
        <p:txBody>
          <a:bodyPr wrap="square" lIns="0" tIns="0" rIns="0" bIns="0" rtlCol="0" anchor="ctr"/>
          <a:lstStyle/>
          <a:p>
            <a:pPr indent="0" marL="0">
              <a:buNone/>
            </a:pPr>
            <a:r>
              <a:rPr lang="en-US" sz="1400" dirty="0">
                <a:solidFill>
                  <a:schemeClr val="tx1"/>
                </a:solidFill>
              </a:rPr>
              <a:t>Tienden a olvidar lo aprendido y necesitan refuerzo</a:t>
            </a:r>
            <a:endParaRPr lang="en-US" sz="1400" dirty="0"/>
          </a:p>
        </p:txBody>
      </p:sp>
      <p:sp>
        <p:nvSpPr>
          <p:cNvPr id="27" name="card-52"/>
          <p:cNvSpPr/>
          <p:nvPr/>
        </p:nvSpPr>
        <p:spPr>
          <a:xfrm>
            <a:off x="6080760" y="3383280"/>
            <a:ext cx="2606040" cy="1143000"/>
          </a:xfrm>
          <a:prstGeom prst="roundRect">
            <a:avLst>
              <a:gd name="adj" fmla="val 9600"/>
            </a:avLst>
          </a:prstGeom>
          <a:solidFill>
            <a:schemeClr val="bg1"/>
          </a:solidFill>
          <a:ln w="12700">
            <a:solidFill>
              <a:srgbClr val="D3DCE3"/>
            </a:solidFill>
            <a:prstDash val="solid"/>
          </a:ln>
          <a:effectLst>
            <a:outerShdw sx="100000" sy="100000" kx="0" ky="0" algn="bl" rotWithShape="0" blurRad="76200" dist="25400" dir="5400000">
              <a:srgbClr val="1E2A36">
                <a:alpha val="12000"/>
              </a:srgbClr>
            </a:outerShdw>
          </a:effectLst>
        </p:spPr>
      </p:sp>
      <p:sp>
        <p:nvSpPr>
          <p:cNvPr id="28" name="icon-bg-53"/>
          <p:cNvSpPr/>
          <p:nvPr/>
        </p:nvSpPr>
        <p:spPr>
          <a:xfrm>
            <a:off x="6263640" y="3721608"/>
            <a:ext cx="457200" cy="457200"/>
          </a:xfrm>
          <a:prstGeom prst="ellipse">
            <a:avLst/>
          </a:prstGeom>
          <a:solidFill>
            <a:schemeClr val="accent5"/>
          </a:solidFill>
          <a:ln/>
        </p:spPr>
      </p:sp>
      <p:pic>
        <p:nvPicPr>
          <p:cNvPr id="29" name="icon-54" descr="preencoded.png">    </p:cNvPr>
          <p:cNvPicPr>
            <a:picLocks noChangeAspect="1"/>
          </p:cNvPicPr>
          <p:nvPr/>
        </p:nvPicPr>
        <p:blipFill>
          <a:blip r:embed="rId7"/>
          <a:stretch>
            <a:fillRect/>
          </a:stretch>
        </p:blipFill>
        <p:spPr>
          <a:xfrm>
            <a:off x="6382512" y="3840480"/>
            <a:ext cx="219456" cy="219456"/>
          </a:xfrm>
          <a:prstGeom prst="rect">
            <a:avLst/>
          </a:prstGeom>
        </p:spPr>
      </p:pic>
      <p:sp>
        <p:nvSpPr>
          <p:cNvPr id="30" name="text-55"/>
          <p:cNvSpPr txBox="1"/>
          <p:nvPr/>
        </p:nvSpPr>
        <p:spPr>
          <a:xfrm>
            <a:off x="6858000" y="3474720"/>
            <a:ext cx="1691640" cy="960120"/>
          </a:xfrm>
          <a:prstGeom prst="rect">
            <a:avLst/>
          </a:prstGeom>
          <a:noFill/>
          <a:ln/>
        </p:spPr>
        <p:txBody>
          <a:bodyPr wrap="square" lIns="0" tIns="0" rIns="0" bIns="0" rtlCol="0" anchor="ctr"/>
          <a:lstStyle/>
          <a:p>
            <a:pPr indent="0" marL="0">
              <a:buNone/>
            </a:pPr>
            <a:r>
              <a:rPr lang="en-US" sz="1400" dirty="0">
                <a:solidFill>
                  <a:schemeClr val="tx1"/>
                </a:solidFill>
              </a:rPr>
              <a:t>Aprenden mejor con pictogramas, juegos y canciones</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chemeClr val="tx2"/>
                </a:solidFill>
                <a:latin typeface="Bookman Old Style" pitchFamily="34" charset="0"/>
                <a:ea typeface="Bookman Old Style" pitchFamily="34" charset="-122"/>
                <a:cs typeface="Bookman Old Style" pitchFamily="34" charset="-120"/>
              </a:rPr>
              <a:t>Nuestra solución: «Leer para Todos»</a:t>
            </a:r>
            <a:endParaRPr lang="en-US" sz="3000" dirty="0"/>
          </a:p>
        </p:txBody>
      </p:sp>
      <p:sp>
        <p:nvSpPr>
          <p:cNvPr id="3" name="text-56"/>
          <p:cNvSpPr txBox="1"/>
          <p:nvPr/>
        </p:nvSpPr>
        <p:spPr>
          <a:xfrm>
            <a:off x="457200" y="960120"/>
            <a:ext cx="8229600" cy="411480"/>
          </a:xfrm>
          <a:prstGeom prst="rect">
            <a:avLst/>
          </a:prstGeom>
          <a:noFill/>
          <a:ln/>
        </p:spPr>
        <p:txBody>
          <a:bodyPr wrap="square" lIns="0" tIns="0" rIns="0" bIns="0" rtlCol="0" anchor="ctr"/>
          <a:lstStyle/>
          <a:p>
            <a:pPr indent="0" marL="0">
              <a:buNone/>
            </a:pPr>
            <a:r>
              <a:rPr lang="en-US" sz="1500" dirty="0">
                <a:solidFill>
                  <a:srgbClr val="5B6B7A"/>
                </a:solidFill>
              </a:rPr>
              <a:t>Una página web para usar en las salas de computación del liceo, siempre acompañada por la educadora.</a:t>
            </a:r>
            <a:endParaRPr lang="en-US" sz="1500" dirty="0"/>
          </a:p>
        </p:txBody>
      </p:sp>
      <p:sp>
        <p:nvSpPr>
          <p:cNvPr id="4" name="card-57"/>
          <p:cNvSpPr/>
          <p:nvPr/>
        </p:nvSpPr>
        <p:spPr>
          <a:xfrm>
            <a:off x="457200" y="1600200"/>
            <a:ext cx="4023360" cy="1325880"/>
          </a:xfrm>
          <a:prstGeom prst="roundRect">
            <a:avLst>
              <a:gd name="adj" fmla="val 8276"/>
            </a:avLst>
          </a:prstGeom>
          <a:solidFill>
            <a:schemeClr val="bg2"/>
          </a:solidFill>
          <a:ln/>
        </p:spPr>
      </p:sp>
      <p:sp>
        <p:nvSpPr>
          <p:cNvPr id="5" name="icon-bg-58"/>
          <p:cNvSpPr/>
          <p:nvPr/>
        </p:nvSpPr>
        <p:spPr>
          <a:xfrm>
            <a:off x="685800" y="1828800"/>
            <a:ext cx="594360" cy="594360"/>
          </a:xfrm>
          <a:prstGeom prst="ellipse">
            <a:avLst/>
          </a:prstGeom>
          <a:solidFill>
            <a:schemeClr val="accent1"/>
          </a:solidFill>
          <a:ln/>
        </p:spPr>
      </p:sp>
      <p:pic>
        <p:nvPicPr>
          <p:cNvPr id="6" name="icon-59" descr="preencoded.png">    </p:cNvPr>
          <p:cNvPicPr>
            <a:picLocks noChangeAspect="1"/>
          </p:cNvPicPr>
          <p:nvPr/>
        </p:nvPicPr>
        <p:blipFill>
          <a:blip r:embed="rId1"/>
          <a:stretch>
            <a:fillRect/>
          </a:stretch>
        </p:blipFill>
        <p:spPr>
          <a:xfrm>
            <a:off x="840334" y="1983334"/>
            <a:ext cx="285293" cy="285293"/>
          </a:xfrm>
          <a:prstGeom prst="rect">
            <a:avLst/>
          </a:prstGeom>
        </p:spPr>
      </p:pic>
      <p:sp>
        <p:nvSpPr>
          <p:cNvPr id="7" name="text-60"/>
          <p:cNvSpPr txBox="1"/>
          <p:nvPr/>
        </p:nvSpPr>
        <p:spPr>
          <a:xfrm>
            <a:off x="1463040" y="1783080"/>
            <a:ext cx="2834640" cy="320040"/>
          </a:xfrm>
          <a:prstGeom prst="rect">
            <a:avLst/>
          </a:prstGeom>
          <a:noFill/>
          <a:ln/>
        </p:spPr>
        <p:txBody>
          <a:bodyPr wrap="square" lIns="0" tIns="0" rIns="0" bIns="0" rtlCol="0" anchor="t"/>
          <a:lstStyle/>
          <a:p>
            <a:pPr indent="0" marL="0">
              <a:buNone/>
            </a:pPr>
            <a:r>
              <a:rPr lang="en-US" sz="1600" b="1" dirty="0">
                <a:solidFill>
                  <a:schemeClr val="tx2"/>
                </a:solidFill>
              </a:rPr>
              <a:t>Sonidos reales</a:t>
            </a:r>
            <a:endParaRPr lang="en-US" sz="1600" dirty="0"/>
          </a:p>
        </p:txBody>
      </p:sp>
      <p:sp>
        <p:nvSpPr>
          <p:cNvPr id="8" name="text-61"/>
          <p:cNvSpPr txBox="1"/>
          <p:nvPr/>
        </p:nvSpPr>
        <p:spPr>
          <a:xfrm>
            <a:off x="1463040" y="2130552"/>
            <a:ext cx="2834640" cy="685800"/>
          </a:xfrm>
          <a:prstGeom prst="rect">
            <a:avLst/>
          </a:prstGeom>
          <a:noFill/>
          <a:ln/>
        </p:spPr>
        <p:txBody>
          <a:bodyPr wrap="square" lIns="0" tIns="0" rIns="0" bIns="0" rtlCol="0" anchor="t"/>
          <a:lstStyle/>
          <a:p>
            <a:pPr indent="0" marL="0">
              <a:buNone/>
            </a:pPr>
            <a:r>
              <a:rPr lang="en-US" sz="1400" dirty="0">
                <a:solidFill>
                  <a:schemeClr val="tx1"/>
                </a:solidFill>
              </a:rPr>
              <a:t>Cada letra y sílaba grabada con voz humana, tal como se enseña en el aula.</a:t>
            </a:r>
            <a:endParaRPr lang="en-US" sz="1400" dirty="0"/>
          </a:p>
        </p:txBody>
      </p:sp>
      <p:sp>
        <p:nvSpPr>
          <p:cNvPr id="9" name="card-62"/>
          <p:cNvSpPr/>
          <p:nvPr/>
        </p:nvSpPr>
        <p:spPr>
          <a:xfrm>
            <a:off x="4663440" y="1600200"/>
            <a:ext cx="4023360" cy="1325880"/>
          </a:xfrm>
          <a:prstGeom prst="roundRect">
            <a:avLst>
              <a:gd name="adj" fmla="val 8276"/>
            </a:avLst>
          </a:prstGeom>
          <a:solidFill>
            <a:schemeClr val="bg2"/>
          </a:solidFill>
          <a:ln/>
        </p:spPr>
      </p:sp>
      <p:sp>
        <p:nvSpPr>
          <p:cNvPr id="10" name="icon-bg-63"/>
          <p:cNvSpPr/>
          <p:nvPr/>
        </p:nvSpPr>
        <p:spPr>
          <a:xfrm>
            <a:off x="4892040" y="1828800"/>
            <a:ext cx="594360" cy="594360"/>
          </a:xfrm>
          <a:prstGeom prst="ellipse">
            <a:avLst/>
          </a:prstGeom>
          <a:solidFill>
            <a:schemeClr val="accent2"/>
          </a:solidFill>
          <a:ln/>
        </p:spPr>
      </p:sp>
      <p:pic>
        <p:nvPicPr>
          <p:cNvPr id="11" name="icon-64" descr="preencoded.png">    </p:cNvPr>
          <p:cNvPicPr>
            <a:picLocks noChangeAspect="1"/>
          </p:cNvPicPr>
          <p:nvPr/>
        </p:nvPicPr>
        <p:blipFill>
          <a:blip r:embed="rId2"/>
          <a:stretch>
            <a:fillRect/>
          </a:stretch>
        </p:blipFill>
        <p:spPr>
          <a:xfrm>
            <a:off x="5046574" y="1983334"/>
            <a:ext cx="285293" cy="285293"/>
          </a:xfrm>
          <a:prstGeom prst="rect">
            <a:avLst/>
          </a:prstGeom>
        </p:spPr>
      </p:pic>
      <p:sp>
        <p:nvSpPr>
          <p:cNvPr id="12" name="text-65"/>
          <p:cNvSpPr txBox="1"/>
          <p:nvPr/>
        </p:nvSpPr>
        <p:spPr>
          <a:xfrm>
            <a:off x="5669280" y="1783080"/>
            <a:ext cx="2834640" cy="320040"/>
          </a:xfrm>
          <a:prstGeom prst="rect">
            <a:avLst/>
          </a:prstGeom>
          <a:noFill/>
          <a:ln/>
        </p:spPr>
        <p:txBody>
          <a:bodyPr wrap="square" lIns="0" tIns="0" rIns="0" bIns="0" rtlCol="0" anchor="t"/>
          <a:lstStyle/>
          <a:p>
            <a:pPr indent="0" marL="0">
              <a:buNone/>
            </a:pPr>
            <a:r>
              <a:rPr lang="en-US" sz="1600" b="1" dirty="0">
                <a:solidFill>
                  <a:schemeClr val="tx2"/>
                </a:solidFill>
              </a:rPr>
              <a:t>Imágenes y pictogramas</a:t>
            </a:r>
            <a:endParaRPr lang="en-US" sz="1600" dirty="0"/>
          </a:p>
        </p:txBody>
      </p:sp>
      <p:sp>
        <p:nvSpPr>
          <p:cNvPr id="13" name="text-66"/>
          <p:cNvSpPr txBox="1"/>
          <p:nvPr/>
        </p:nvSpPr>
        <p:spPr>
          <a:xfrm>
            <a:off x="5669280" y="2130552"/>
            <a:ext cx="2834640" cy="685800"/>
          </a:xfrm>
          <a:prstGeom prst="rect">
            <a:avLst/>
          </a:prstGeom>
          <a:noFill/>
          <a:ln/>
        </p:spPr>
        <p:txBody>
          <a:bodyPr wrap="square" lIns="0" tIns="0" rIns="0" bIns="0" rtlCol="0" anchor="t"/>
          <a:lstStyle/>
          <a:p>
            <a:pPr indent="0" marL="0">
              <a:buNone/>
            </a:pPr>
            <a:r>
              <a:rPr lang="en-US" sz="1400" dirty="0">
                <a:solidFill>
                  <a:schemeClr val="tx1"/>
                </a:solidFill>
              </a:rPr>
              <a:t>Cada palabra con su foto real o su pictograma, según lo que necesite cada niño.</a:t>
            </a:r>
            <a:endParaRPr lang="en-US" sz="1400" dirty="0"/>
          </a:p>
        </p:txBody>
      </p:sp>
      <p:sp>
        <p:nvSpPr>
          <p:cNvPr id="14" name="card-67"/>
          <p:cNvSpPr/>
          <p:nvPr/>
        </p:nvSpPr>
        <p:spPr>
          <a:xfrm>
            <a:off x="457200" y="3108960"/>
            <a:ext cx="4023360" cy="1325880"/>
          </a:xfrm>
          <a:prstGeom prst="roundRect">
            <a:avLst>
              <a:gd name="adj" fmla="val 8276"/>
            </a:avLst>
          </a:prstGeom>
          <a:solidFill>
            <a:schemeClr val="bg2"/>
          </a:solidFill>
          <a:ln/>
        </p:spPr>
      </p:sp>
      <p:sp>
        <p:nvSpPr>
          <p:cNvPr id="15" name="icon-bg-68"/>
          <p:cNvSpPr/>
          <p:nvPr/>
        </p:nvSpPr>
        <p:spPr>
          <a:xfrm>
            <a:off x="685800" y="3337560"/>
            <a:ext cx="594360" cy="594360"/>
          </a:xfrm>
          <a:prstGeom prst="ellipse">
            <a:avLst/>
          </a:prstGeom>
          <a:solidFill>
            <a:schemeClr val="accent4"/>
          </a:solidFill>
          <a:ln/>
        </p:spPr>
      </p:sp>
      <p:pic>
        <p:nvPicPr>
          <p:cNvPr id="16" name="icon-69" descr="preencoded.png">    </p:cNvPr>
          <p:cNvPicPr>
            <a:picLocks noChangeAspect="1"/>
          </p:cNvPicPr>
          <p:nvPr/>
        </p:nvPicPr>
        <p:blipFill>
          <a:blip r:embed="rId3"/>
          <a:stretch>
            <a:fillRect/>
          </a:stretch>
        </p:blipFill>
        <p:spPr>
          <a:xfrm>
            <a:off x="840334" y="3492094"/>
            <a:ext cx="285293" cy="285293"/>
          </a:xfrm>
          <a:prstGeom prst="rect">
            <a:avLst/>
          </a:prstGeom>
        </p:spPr>
      </p:pic>
      <p:sp>
        <p:nvSpPr>
          <p:cNvPr id="17" name="text-70"/>
          <p:cNvSpPr txBox="1"/>
          <p:nvPr/>
        </p:nvSpPr>
        <p:spPr>
          <a:xfrm>
            <a:off x="1463040" y="3291840"/>
            <a:ext cx="2834640" cy="320040"/>
          </a:xfrm>
          <a:prstGeom prst="rect">
            <a:avLst/>
          </a:prstGeom>
          <a:noFill/>
          <a:ln/>
        </p:spPr>
        <p:txBody>
          <a:bodyPr wrap="square" lIns="0" tIns="0" rIns="0" bIns="0" rtlCol="0" anchor="t"/>
          <a:lstStyle/>
          <a:p>
            <a:pPr indent="0" marL="0">
              <a:buNone/>
            </a:pPr>
            <a:r>
              <a:rPr lang="en-US" sz="1600" b="1" dirty="0">
                <a:solidFill>
                  <a:schemeClr val="tx2"/>
                </a:solidFill>
              </a:rPr>
              <a:t>Seguimiento del avance</a:t>
            </a:r>
            <a:endParaRPr lang="en-US" sz="1600" dirty="0"/>
          </a:p>
        </p:txBody>
      </p:sp>
      <p:sp>
        <p:nvSpPr>
          <p:cNvPr id="18" name="text-71"/>
          <p:cNvSpPr txBox="1"/>
          <p:nvPr/>
        </p:nvSpPr>
        <p:spPr>
          <a:xfrm>
            <a:off x="1463040" y="3639312"/>
            <a:ext cx="2834640" cy="685800"/>
          </a:xfrm>
          <a:prstGeom prst="rect">
            <a:avLst/>
          </a:prstGeom>
          <a:noFill/>
          <a:ln/>
        </p:spPr>
        <p:txBody>
          <a:bodyPr wrap="square" lIns="0" tIns="0" rIns="0" bIns="0" rtlCol="0" anchor="t"/>
          <a:lstStyle/>
          <a:p>
            <a:pPr indent="0" marL="0">
              <a:buNone/>
            </a:pPr>
            <a:r>
              <a:rPr lang="en-US" sz="1400" dirty="0">
                <a:solidFill>
                  <a:schemeClr val="tx1"/>
                </a:solidFill>
              </a:rPr>
              <a:t>La educadora ve qué letras y sílabas le cuestan a cada estudiante.</a:t>
            </a:r>
            <a:endParaRPr lang="en-US" sz="1400" dirty="0"/>
          </a:p>
        </p:txBody>
      </p:sp>
      <p:sp>
        <p:nvSpPr>
          <p:cNvPr id="19" name="card-72"/>
          <p:cNvSpPr/>
          <p:nvPr/>
        </p:nvSpPr>
        <p:spPr>
          <a:xfrm>
            <a:off x="4663440" y="3108960"/>
            <a:ext cx="4023360" cy="1325880"/>
          </a:xfrm>
          <a:prstGeom prst="roundRect">
            <a:avLst>
              <a:gd name="adj" fmla="val 8276"/>
            </a:avLst>
          </a:prstGeom>
          <a:solidFill>
            <a:schemeClr val="bg2"/>
          </a:solidFill>
          <a:ln/>
        </p:spPr>
      </p:sp>
      <p:sp>
        <p:nvSpPr>
          <p:cNvPr id="20" name="icon-bg-73"/>
          <p:cNvSpPr/>
          <p:nvPr/>
        </p:nvSpPr>
        <p:spPr>
          <a:xfrm>
            <a:off x="4892040" y="3337560"/>
            <a:ext cx="594360" cy="594360"/>
          </a:xfrm>
          <a:prstGeom prst="ellipse">
            <a:avLst/>
          </a:prstGeom>
          <a:solidFill>
            <a:schemeClr val="accent5"/>
          </a:solidFill>
          <a:ln/>
        </p:spPr>
      </p:sp>
      <p:pic>
        <p:nvPicPr>
          <p:cNvPr id="21" name="icon-74" descr="preencoded.png">    </p:cNvPr>
          <p:cNvPicPr>
            <a:picLocks noChangeAspect="1"/>
          </p:cNvPicPr>
          <p:nvPr/>
        </p:nvPicPr>
        <p:blipFill>
          <a:blip r:embed="rId4"/>
          <a:stretch>
            <a:fillRect/>
          </a:stretch>
        </p:blipFill>
        <p:spPr>
          <a:xfrm>
            <a:off x="5046574" y="3492094"/>
            <a:ext cx="285293" cy="285293"/>
          </a:xfrm>
          <a:prstGeom prst="rect">
            <a:avLst/>
          </a:prstGeom>
        </p:spPr>
      </p:pic>
      <p:sp>
        <p:nvSpPr>
          <p:cNvPr id="22" name="text-75"/>
          <p:cNvSpPr txBox="1"/>
          <p:nvPr/>
        </p:nvSpPr>
        <p:spPr>
          <a:xfrm>
            <a:off x="5669280" y="3291840"/>
            <a:ext cx="2834640" cy="320040"/>
          </a:xfrm>
          <a:prstGeom prst="rect">
            <a:avLst/>
          </a:prstGeom>
          <a:noFill/>
          <a:ln/>
        </p:spPr>
        <p:txBody>
          <a:bodyPr wrap="square" lIns="0" tIns="0" rIns="0" bIns="0" rtlCol="0" anchor="t"/>
          <a:lstStyle/>
          <a:p>
            <a:pPr indent="0" marL="0">
              <a:buNone/>
            </a:pPr>
            <a:r>
              <a:rPr lang="en-US" sz="1600" b="1" dirty="0">
                <a:solidFill>
                  <a:schemeClr val="tx2"/>
                </a:solidFill>
              </a:rPr>
              <a:t>Motivación</a:t>
            </a:r>
            <a:endParaRPr lang="en-US" sz="1600" dirty="0"/>
          </a:p>
        </p:txBody>
      </p:sp>
      <p:sp>
        <p:nvSpPr>
          <p:cNvPr id="23" name="text-76"/>
          <p:cNvSpPr txBox="1"/>
          <p:nvPr/>
        </p:nvSpPr>
        <p:spPr>
          <a:xfrm>
            <a:off x="5669280" y="3639312"/>
            <a:ext cx="2834640" cy="685800"/>
          </a:xfrm>
          <a:prstGeom prst="rect">
            <a:avLst/>
          </a:prstGeom>
          <a:noFill/>
          <a:ln/>
        </p:spPr>
        <p:txBody>
          <a:bodyPr wrap="square" lIns="0" tIns="0" rIns="0" bIns="0" rtlCol="0" anchor="t"/>
          <a:lstStyle/>
          <a:p>
            <a:pPr indent="0" marL="0">
              <a:buNone/>
            </a:pPr>
            <a:r>
              <a:rPr lang="en-US" sz="1400" dirty="0">
                <a:solidFill>
                  <a:schemeClr val="tx1"/>
                </a:solidFill>
              </a:rPr>
              <a:t>Avatar personalizable, monedas y temáticas que a los niños les gustan.</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chemeClr val="tx2"/>
                </a:solidFill>
                <a:latin typeface="Bookman Old Style" pitchFamily="34" charset="0"/>
                <a:ea typeface="Bookman Old Style" pitchFamily="34" charset="-122"/>
                <a:cs typeface="Bookman Old Style" pitchFamily="34" charset="-120"/>
              </a:rPr>
              <a:t>Cómo se recorre la plataforma</a:t>
            </a:r>
            <a:endParaRPr lang="en-US" sz="3000" dirty="0"/>
          </a:p>
        </p:txBody>
      </p:sp>
      <p:sp>
        <p:nvSpPr>
          <p:cNvPr id="3" name="icon-bg-77"/>
          <p:cNvSpPr/>
          <p:nvPr/>
        </p:nvSpPr>
        <p:spPr>
          <a:xfrm>
            <a:off x="777240" y="1188720"/>
            <a:ext cx="822960" cy="822960"/>
          </a:xfrm>
          <a:prstGeom prst="ellipse">
            <a:avLst/>
          </a:prstGeom>
          <a:solidFill>
            <a:schemeClr val="accent4"/>
          </a:solidFill>
          <a:ln/>
        </p:spPr>
      </p:sp>
      <p:pic>
        <p:nvPicPr>
          <p:cNvPr id="4" name="icon-78" descr="preencoded.png">    </p:cNvPr>
          <p:cNvPicPr>
            <a:picLocks noChangeAspect="1"/>
          </p:cNvPicPr>
          <p:nvPr/>
        </p:nvPicPr>
        <p:blipFill>
          <a:blip r:embed="rId1"/>
          <a:stretch>
            <a:fillRect/>
          </a:stretch>
        </p:blipFill>
        <p:spPr>
          <a:xfrm>
            <a:off x="991210" y="1402690"/>
            <a:ext cx="395021" cy="395021"/>
          </a:xfrm>
          <a:prstGeom prst="rect">
            <a:avLst/>
          </a:prstGeom>
        </p:spPr>
      </p:pic>
      <p:sp>
        <p:nvSpPr>
          <p:cNvPr id="5" name="text-79"/>
          <p:cNvSpPr txBox="1"/>
          <p:nvPr/>
        </p:nvSpPr>
        <p:spPr>
          <a:xfrm>
            <a:off x="1371600" y="1115568"/>
            <a:ext cx="292608" cy="292608"/>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text-80"/>
          <p:cNvSpPr txBox="1"/>
          <p:nvPr/>
        </p:nvSpPr>
        <p:spPr>
          <a:xfrm>
            <a:off x="457200" y="2148840"/>
            <a:ext cx="1463040" cy="548640"/>
          </a:xfrm>
          <a:prstGeom prst="rect">
            <a:avLst/>
          </a:prstGeom>
          <a:noFill/>
          <a:ln/>
        </p:spPr>
        <p:txBody>
          <a:bodyPr wrap="square" lIns="0" tIns="0" rIns="0" bIns="0" rtlCol="0" anchor="t"/>
          <a:lstStyle/>
          <a:p>
            <a:pPr algn="ctr" indent="0" marL="0">
              <a:buNone/>
            </a:pPr>
            <a:r>
              <a:rPr lang="en-US" sz="1400" b="1" dirty="0">
                <a:solidFill>
                  <a:schemeClr val="tx2"/>
                </a:solidFill>
              </a:rPr>
              <a:t>Docente inicia sesión</a:t>
            </a:r>
            <a:endParaRPr lang="en-US" sz="1400" dirty="0"/>
          </a:p>
        </p:txBody>
      </p:sp>
      <p:sp>
        <p:nvSpPr>
          <p:cNvPr id="7" name="text-81"/>
          <p:cNvSpPr txBox="1"/>
          <p:nvPr/>
        </p:nvSpPr>
        <p:spPr>
          <a:xfrm>
            <a:off x="502920" y="2697480"/>
            <a:ext cx="1371600" cy="594360"/>
          </a:xfrm>
          <a:prstGeom prst="rect">
            <a:avLst/>
          </a:prstGeom>
          <a:noFill/>
          <a:ln/>
        </p:spPr>
        <p:txBody>
          <a:bodyPr wrap="square" lIns="0" tIns="0" rIns="0" bIns="0" rtlCol="0" anchor="t"/>
          <a:lstStyle/>
          <a:p>
            <a:pPr algn="ctr" indent="0" marL="0">
              <a:buNone/>
            </a:pPr>
            <a:r>
              <a:rPr lang="en-US" sz="1200" dirty="0">
                <a:solidFill>
                  <a:srgbClr val="5B6B7A"/>
                </a:solidFill>
              </a:rPr>
              <a:t>Con su cuenta, al empezar la clase</a:t>
            </a:r>
            <a:endParaRPr lang="en-US" sz="1200" dirty="0"/>
          </a:p>
        </p:txBody>
      </p:sp>
      <p:pic>
        <p:nvPicPr>
          <p:cNvPr id="8" name="chevron-82" descr="preencoded.png">    </p:cNvPr>
          <p:cNvPicPr>
            <a:picLocks noChangeAspect="1"/>
          </p:cNvPicPr>
          <p:nvPr/>
        </p:nvPicPr>
        <p:blipFill>
          <a:blip r:embed="rId2"/>
          <a:stretch>
            <a:fillRect/>
          </a:stretch>
        </p:blipFill>
        <p:spPr>
          <a:xfrm>
            <a:off x="1938528" y="1463040"/>
            <a:ext cx="228600" cy="274320"/>
          </a:xfrm>
          <a:prstGeom prst="rect">
            <a:avLst/>
          </a:prstGeom>
        </p:spPr>
      </p:pic>
      <p:sp>
        <p:nvSpPr>
          <p:cNvPr id="9" name="icon-bg-83"/>
          <p:cNvSpPr/>
          <p:nvPr/>
        </p:nvSpPr>
        <p:spPr>
          <a:xfrm>
            <a:off x="2468880" y="1188720"/>
            <a:ext cx="822960" cy="822960"/>
          </a:xfrm>
          <a:prstGeom prst="ellipse">
            <a:avLst/>
          </a:prstGeom>
          <a:solidFill>
            <a:schemeClr val="accent2"/>
          </a:solidFill>
          <a:ln/>
        </p:spPr>
      </p:sp>
      <p:pic>
        <p:nvPicPr>
          <p:cNvPr id="10" name="icon-84" descr="preencoded.png">    </p:cNvPr>
          <p:cNvPicPr>
            <a:picLocks noChangeAspect="1"/>
          </p:cNvPicPr>
          <p:nvPr/>
        </p:nvPicPr>
        <p:blipFill>
          <a:blip r:embed="rId3"/>
          <a:stretch>
            <a:fillRect/>
          </a:stretch>
        </p:blipFill>
        <p:spPr>
          <a:xfrm>
            <a:off x="2682850" y="1402690"/>
            <a:ext cx="395021" cy="395021"/>
          </a:xfrm>
          <a:prstGeom prst="rect">
            <a:avLst/>
          </a:prstGeom>
        </p:spPr>
      </p:pic>
      <p:sp>
        <p:nvSpPr>
          <p:cNvPr id="11" name="text-85"/>
          <p:cNvSpPr txBox="1"/>
          <p:nvPr/>
        </p:nvSpPr>
        <p:spPr>
          <a:xfrm>
            <a:off x="3063240" y="1115568"/>
            <a:ext cx="292608" cy="292608"/>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text-86"/>
          <p:cNvSpPr txBox="1"/>
          <p:nvPr/>
        </p:nvSpPr>
        <p:spPr>
          <a:xfrm>
            <a:off x="2148840" y="2148840"/>
            <a:ext cx="1463040" cy="548640"/>
          </a:xfrm>
          <a:prstGeom prst="rect">
            <a:avLst/>
          </a:prstGeom>
          <a:noFill/>
          <a:ln/>
        </p:spPr>
        <p:txBody>
          <a:bodyPr wrap="square" lIns="0" tIns="0" rIns="0" bIns="0" rtlCol="0" anchor="t"/>
          <a:lstStyle/>
          <a:p>
            <a:pPr algn="ctr" indent="0" marL="0">
              <a:buNone/>
            </a:pPr>
            <a:r>
              <a:rPr lang="en-US" sz="1400" b="1" dirty="0">
                <a:solidFill>
                  <a:schemeClr val="tx2"/>
                </a:solidFill>
              </a:rPr>
              <a:t>El niño elige su foto</a:t>
            </a:r>
            <a:endParaRPr lang="en-US" sz="1400" dirty="0"/>
          </a:p>
        </p:txBody>
      </p:sp>
      <p:sp>
        <p:nvSpPr>
          <p:cNvPr id="13" name="text-87"/>
          <p:cNvSpPr txBox="1"/>
          <p:nvPr/>
        </p:nvSpPr>
        <p:spPr>
          <a:xfrm>
            <a:off x="2194560" y="2697480"/>
            <a:ext cx="1371600" cy="594360"/>
          </a:xfrm>
          <a:prstGeom prst="rect">
            <a:avLst/>
          </a:prstGeom>
          <a:noFill/>
          <a:ln/>
        </p:spPr>
        <p:txBody>
          <a:bodyPr wrap="square" lIns="0" tIns="0" rIns="0" bIns="0" rtlCol="0" anchor="t"/>
          <a:lstStyle/>
          <a:p>
            <a:pPr algn="ctr" indent="0" marL="0">
              <a:buNone/>
            </a:pPr>
            <a:r>
              <a:rPr lang="en-US" sz="1200" dirty="0">
                <a:solidFill>
                  <a:srgbClr val="5B6B7A"/>
                </a:solidFill>
              </a:rPr>
              <a:t>Un clic, sin teclado</a:t>
            </a:r>
            <a:endParaRPr lang="en-US" sz="1200" dirty="0"/>
          </a:p>
        </p:txBody>
      </p:sp>
      <p:pic>
        <p:nvPicPr>
          <p:cNvPr id="14" name="chevron-88" descr="preencoded.png">    </p:cNvPr>
          <p:cNvPicPr>
            <a:picLocks noChangeAspect="1"/>
          </p:cNvPicPr>
          <p:nvPr/>
        </p:nvPicPr>
        <p:blipFill>
          <a:blip r:embed="rId4"/>
          <a:stretch>
            <a:fillRect/>
          </a:stretch>
        </p:blipFill>
        <p:spPr>
          <a:xfrm>
            <a:off x="3630168" y="1463040"/>
            <a:ext cx="228600" cy="274320"/>
          </a:xfrm>
          <a:prstGeom prst="rect">
            <a:avLst/>
          </a:prstGeom>
        </p:spPr>
      </p:pic>
      <p:sp>
        <p:nvSpPr>
          <p:cNvPr id="15" name="icon-bg-89"/>
          <p:cNvSpPr/>
          <p:nvPr/>
        </p:nvSpPr>
        <p:spPr>
          <a:xfrm>
            <a:off x="4160520" y="1188720"/>
            <a:ext cx="822960" cy="822960"/>
          </a:xfrm>
          <a:prstGeom prst="ellipse">
            <a:avLst/>
          </a:prstGeom>
          <a:solidFill>
            <a:schemeClr val="accent6"/>
          </a:solidFill>
          <a:ln/>
        </p:spPr>
      </p:sp>
      <p:pic>
        <p:nvPicPr>
          <p:cNvPr id="16" name="icon-90" descr="preencoded.png">    </p:cNvPr>
          <p:cNvPicPr>
            <a:picLocks noChangeAspect="1"/>
          </p:cNvPicPr>
          <p:nvPr/>
        </p:nvPicPr>
        <p:blipFill>
          <a:blip r:embed="rId5"/>
          <a:stretch>
            <a:fillRect/>
          </a:stretch>
        </p:blipFill>
        <p:spPr>
          <a:xfrm>
            <a:off x="4374490" y="1402690"/>
            <a:ext cx="395021" cy="395021"/>
          </a:xfrm>
          <a:prstGeom prst="rect">
            <a:avLst/>
          </a:prstGeom>
        </p:spPr>
      </p:pic>
      <p:sp>
        <p:nvSpPr>
          <p:cNvPr id="17" name="text-91"/>
          <p:cNvSpPr txBox="1"/>
          <p:nvPr/>
        </p:nvSpPr>
        <p:spPr>
          <a:xfrm>
            <a:off x="4754880" y="1115568"/>
            <a:ext cx="292608" cy="292608"/>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8" name="text-92"/>
          <p:cNvSpPr txBox="1"/>
          <p:nvPr/>
        </p:nvSpPr>
        <p:spPr>
          <a:xfrm>
            <a:off x="3840480" y="2148840"/>
            <a:ext cx="1463040" cy="548640"/>
          </a:xfrm>
          <a:prstGeom prst="rect">
            <a:avLst/>
          </a:prstGeom>
          <a:noFill/>
          <a:ln/>
        </p:spPr>
        <p:txBody>
          <a:bodyPr wrap="square" lIns="0" tIns="0" rIns="0" bIns="0" rtlCol="0" anchor="t"/>
          <a:lstStyle/>
          <a:p>
            <a:pPr algn="ctr" indent="0" marL="0">
              <a:buNone/>
            </a:pPr>
            <a:r>
              <a:rPr lang="en-US" sz="1400" b="1" dirty="0">
                <a:solidFill>
                  <a:schemeClr val="tx2"/>
                </a:solidFill>
              </a:rPr>
              <a:t>¿Cómo te sientes?</a:t>
            </a:r>
            <a:endParaRPr lang="en-US" sz="1400" dirty="0"/>
          </a:p>
        </p:txBody>
      </p:sp>
      <p:sp>
        <p:nvSpPr>
          <p:cNvPr id="19" name="text-93"/>
          <p:cNvSpPr txBox="1"/>
          <p:nvPr/>
        </p:nvSpPr>
        <p:spPr>
          <a:xfrm>
            <a:off x="3886200" y="2697480"/>
            <a:ext cx="1371600" cy="594360"/>
          </a:xfrm>
          <a:prstGeom prst="rect">
            <a:avLst/>
          </a:prstGeom>
          <a:noFill/>
          <a:ln/>
        </p:spPr>
        <p:txBody>
          <a:bodyPr wrap="square" lIns="0" tIns="0" rIns="0" bIns="0" rtlCol="0" anchor="t"/>
          <a:lstStyle/>
          <a:p>
            <a:pPr algn="ctr" indent="0" marL="0">
              <a:buNone/>
            </a:pPr>
            <a:r>
              <a:rPr lang="en-US" sz="1200" dirty="0">
                <a:solidFill>
                  <a:srgbClr val="5B6B7A"/>
                </a:solidFill>
              </a:rPr>
              <a:t>Caritas y colores</a:t>
            </a:r>
            <a:endParaRPr lang="en-US" sz="1200" dirty="0"/>
          </a:p>
        </p:txBody>
      </p:sp>
      <p:pic>
        <p:nvPicPr>
          <p:cNvPr id="20" name="chevron-94" descr="preencoded.png">    </p:cNvPr>
          <p:cNvPicPr>
            <a:picLocks noChangeAspect="1"/>
          </p:cNvPicPr>
          <p:nvPr/>
        </p:nvPicPr>
        <p:blipFill>
          <a:blip r:embed="rId6"/>
          <a:stretch>
            <a:fillRect/>
          </a:stretch>
        </p:blipFill>
        <p:spPr>
          <a:xfrm>
            <a:off x="5321808" y="1463040"/>
            <a:ext cx="228600" cy="274320"/>
          </a:xfrm>
          <a:prstGeom prst="rect">
            <a:avLst/>
          </a:prstGeom>
        </p:spPr>
      </p:pic>
      <p:sp>
        <p:nvSpPr>
          <p:cNvPr id="21" name="icon-bg-95"/>
          <p:cNvSpPr/>
          <p:nvPr/>
        </p:nvSpPr>
        <p:spPr>
          <a:xfrm>
            <a:off x="5852160" y="1188720"/>
            <a:ext cx="822960" cy="822960"/>
          </a:xfrm>
          <a:prstGeom prst="ellipse">
            <a:avLst/>
          </a:prstGeom>
          <a:solidFill>
            <a:schemeClr val="accent1"/>
          </a:solidFill>
          <a:ln/>
        </p:spPr>
      </p:sp>
      <p:pic>
        <p:nvPicPr>
          <p:cNvPr id="22" name="icon-96" descr="preencoded.png">    </p:cNvPr>
          <p:cNvPicPr>
            <a:picLocks noChangeAspect="1"/>
          </p:cNvPicPr>
          <p:nvPr/>
        </p:nvPicPr>
        <p:blipFill>
          <a:blip r:embed="rId7"/>
          <a:stretch>
            <a:fillRect/>
          </a:stretch>
        </p:blipFill>
        <p:spPr>
          <a:xfrm>
            <a:off x="6066130" y="1402690"/>
            <a:ext cx="395021" cy="395021"/>
          </a:xfrm>
          <a:prstGeom prst="rect">
            <a:avLst/>
          </a:prstGeom>
        </p:spPr>
      </p:pic>
      <p:sp>
        <p:nvSpPr>
          <p:cNvPr id="23" name="text-97"/>
          <p:cNvSpPr txBox="1"/>
          <p:nvPr/>
        </p:nvSpPr>
        <p:spPr>
          <a:xfrm>
            <a:off x="6446520" y="1115568"/>
            <a:ext cx="292608" cy="292608"/>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4" name="text-98"/>
          <p:cNvSpPr txBox="1"/>
          <p:nvPr/>
        </p:nvSpPr>
        <p:spPr>
          <a:xfrm>
            <a:off x="5532120" y="2148840"/>
            <a:ext cx="1463040" cy="548640"/>
          </a:xfrm>
          <a:prstGeom prst="rect">
            <a:avLst/>
          </a:prstGeom>
          <a:noFill/>
          <a:ln/>
        </p:spPr>
        <p:txBody>
          <a:bodyPr wrap="square" lIns="0" tIns="0" rIns="0" bIns="0" rtlCol="0" anchor="t"/>
          <a:lstStyle/>
          <a:p>
            <a:pPr algn="ctr" indent="0" marL="0">
              <a:buNone/>
            </a:pPr>
            <a:r>
              <a:rPr lang="en-US" sz="1400" b="1" dirty="0">
                <a:solidFill>
                  <a:schemeClr val="tx2"/>
                </a:solidFill>
              </a:rPr>
              <a:t>Dashboard</a:t>
            </a:r>
            <a:endParaRPr lang="en-US" sz="1400" dirty="0"/>
          </a:p>
        </p:txBody>
      </p:sp>
      <p:sp>
        <p:nvSpPr>
          <p:cNvPr id="25" name="text-99"/>
          <p:cNvSpPr txBox="1"/>
          <p:nvPr/>
        </p:nvSpPr>
        <p:spPr>
          <a:xfrm>
            <a:off x="5577840" y="2697480"/>
            <a:ext cx="1371600" cy="594360"/>
          </a:xfrm>
          <a:prstGeom prst="rect">
            <a:avLst/>
          </a:prstGeom>
          <a:noFill/>
          <a:ln/>
        </p:spPr>
        <p:txBody>
          <a:bodyPr wrap="square" lIns="0" tIns="0" rIns="0" bIns="0" rtlCol="0" anchor="t"/>
          <a:lstStyle/>
          <a:p>
            <a:pPr algn="ctr" indent="0" marL="0">
              <a:buNone/>
            </a:pPr>
            <a:r>
              <a:rPr lang="en-US" sz="1200" dirty="0">
                <a:solidFill>
                  <a:srgbClr val="5B6B7A"/>
                </a:solidFill>
              </a:rPr>
              <a:t>Sus actividades y su avatar</a:t>
            </a:r>
            <a:endParaRPr lang="en-US" sz="1200" dirty="0"/>
          </a:p>
        </p:txBody>
      </p:sp>
      <p:pic>
        <p:nvPicPr>
          <p:cNvPr id="26" name="chevron-100" descr="preencoded.png">    </p:cNvPr>
          <p:cNvPicPr>
            <a:picLocks noChangeAspect="1"/>
          </p:cNvPicPr>
          <p:nvPr/>
        </p:nvPicPr>
        <p:blipFill>
          <a:blip r:embed="rId8"/>
          <a:stretch>
            <a:fillRect/>
          </a:stretch>
        </p:blipFill>
        <p:spPr>
          <a:xfrm>
            <a:off x="7013448" y="1463040"/>
            <a:ext cx="228600" cy="274320"/>
          </a:xfrm>
          <a:prstGeom prst="rect">
            <a:avLst/>
          </a:prstGeom>
        </p:spPr>
      </p:pic>
      <p:sp>
        <p:nvSpPr>
          <p:cNvPr id="27" name="icon-bg-101"/>
          <p:cNvSpPr/>
          <p:nvPr/>
        </p:nvSpPr>
        <p:spPr>
          <a:xfrm>
            <a:off x="7543800" y="1188720"/>
            <a:ext cx="822960" cy="822960"/>
          </a:xfrm>
          <a:prstGeom prst="ellipse">
            <a:avLst/>
          </a:prstGeom>
          <a:solidFill>
            <a:schemeClr val="accent5"/>
          </a:solidFill>
          <a:ln/>
        </p:spPr>
      </p:sp>
      <p:pic>
        <p:nvPicPr>
          <p:cNvPr id="28" name="icon-102" descr="preencoded.png">    </p:cNvPr>
          <p:cNvPicPr>
            <a:picLocks noChangeAspect="1"/>
          </p:cNvPicPr>
          <p:nvPr/>
        </p:nvPicPr>
        <p:blipFill>
          <a:blip r:embed="rId9"/>
          <a:stretch>
            <a:fillRect/>
          </a:stretch>
        </p:blipFill>
        <p:spPr>
          <a:xfrm>
            <a:off x="7757770" y="1402690"/>
            <a:ext cx="395021" cy="395021"/>
          </a:xfrm>
          <a:prstGeom prst="rect">
            <a:avLst/>
          </a:prstGeom>
        </p:spPr>
      </p:pic>
      <p:sp>
        <p:nvSpPr>
          <p:cNvPr id="29" name="text-103"/>
          <p:cNvSpPr txBox="1"/>
          <p:nvPr/>
        </p:nvSpPr>
        <p:spPr>
          <a:xfrm>
            <a:off x="8138160" y="1115568"/>
            <a:ext cx="292608" cy="292608"/>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0" name="text-104"/>
          <p:cNvSpPr txBox="1"/>
          <p:nvPr/>
        </p:nvSpPr>
        <p:spPr>
          <a:xfrm>
            <a:off x="7223760" y="2148840"/>
            <a:ext cx="1463040" cy="548640"/>
          </a:xfrm>
          <a:prstGeom prst="rect">
            <a:avLst/>
          </a:prstGeom>
          <a:noFill/>
          <a:ln/>
        </p:spPr>
        <p:txBody>
          <a:bodyPr wrap="square" lIns="0" tIns="0" rIns="0" bIns="0" rtlCol="0" anchor="t"/>
          <a:lstStyle/>
          <a:p>
            <a:pPr algn="ctr" indent="0" marL="0">
              <a:buNone/>
            </a:pPr>
            <a:r>
              <a:rPr lang="en-US" sz="1400" b="1" dirty="0">
                <a:solidFill>
                  <a:schemeClr val="tx2"/>
                </a:solidFill>
              </a:rPr>
              <a:t>Actividad y premio</a:t>
            </a:r>
            <a:endParaRPr lang="en-US" sz="1400" dirty="0"/>
          </a:p>
        </p:txBody>
      </p:sp>
      <p:sp>
        <p:nvSpPr>
          <p:cNvPr id="31" name="text-105"/>
          <p:cNvSpPr txBox="1"/>
          <p:nvPr/>
        </p:nvSpPr>
        <p:spPr>
          <a:xfrm>
            <a:off x="7269480" y="2697480"/>
            <a:ext cx="1371600" cy="594360"/>
          </a:xfrm>
          <a:prstGeom prst="rect">
            <a:avLst/>
          </a:prstGeom>
          <a:noFill/>
          <a:ln/>
        </p:spPr>
        <p:txBody>
          <a:bodyPr wrap="square" lIns="0" tIns="0" rIns="0" bIns="0" rtlCol="0" anchor="t"/>
          <a:lstStyle/>
          <a:p>
            <a:pPr algn="ctr" indent="0" marL="0">
              <a:buNone/>
            </a:pPr>
            <a:r>
              <a:rPr lang="en-US" sz="1200" dirty="0">
                <a:solidFill>
                  <a:srgbClr val="5B6B7A"/>
                </a:solidFill>
              </a:rPr>
              <a:t>Aprende jugando y gana monedas</a:t>
            </a:r>
            <a:endParaRPr lang="en-US" sz="1200" dirty="0"/>
          </a:p>
        </p:txBody>
      </p:sp>
      <p:sp>
        <p:nvSpPr>
          <p:cNvPr id="32" name="card-106"/>
          <p:cNvSpPr/>
          <p:nvPr/>
        </p:nvSpPr>
        <p:spPr>
          <a:xfrm>
            <a:off x="457200" y="3611880"/>
            <a:ext cx="8229600" cy="868680"/>
          </a:xfrm>
          <a:prstGeom prst="roundRect">
            <a:avLst>
              <a:gd name="adj" fmla="val 12632"/>
            </a:avLst>
          </a:prstGeom>
          <a:solidFill>
            <a:schemeClr val="bg2"/>
          </a:solidFill>
          <a:ln/>
        </p:spPr>
      </p:sp>
      <p:sp>
        <p:nvSpPr>
          <p:cNvPr id="33" name="icon-bg-107"/>
          <p:cNvSpPr/>
          <p:nvPr/>
        </p:nvSpPr>
        <p:spPr>
          <a:xfrm>
            <a:off x="685800" y="3794760"/>
            <a:ext cx="502920" cy="502920"/>
          </a:xfrm>
          <a:prstGeom prst="ellipse">
            <a:avLst/>
          </a:prstGeom>
          <a:solidFill>
            <a:schemeClr val="accent2"/>
          </a:solidFill>
          <a:ln/>
        </p:spPr>
      </p:sp>
      <p:pic>
        <p:nvPicPr>
          <p:cNvPr id="34" name="icon-108" descr="preencoded.png">    </p:cNvPr>
          <p:cNvPicPr>
            <a:picLocks noChangeAspect="1"/>
          </p:cNvPicPr>
          <p:nvPr/>
        </p:nvPicPr>
        <p:blipFill>
          <a:blip r:embed="rId10"/>
          <a:stretch>
            <a:fillRect/>
          </a:stretch>
        </p:blipFill>
        <p:spPr>
          <a:xfrm>
            <a:off x="816559" y="3925519"/>
            <a:ext cx="241402" cy="241402"/>
          </a:xfrm>
          <a:prstGeom prst="rect">
            <a:avLst/>
          </a:prstGeom>
        </p:spPr>
      </p:pic>
      <p:sp>
        <p:nvSpPr>
          <p:cNvPr id="35" name="text-109"/>
          <p:cNvSpPr txBox="1"/>
          <p:nvPr/>
        </p:nvSpPr>
        <p:spPr>
          <a:xfrm>
            <a:off x="1371600" y="3611880"/>
            <a:ext cx="7132320" cy="868680"/>
          </a:xfrm>
          <a:prstGeom prst="rect">
            <a:avLst/>
          </a:prstGeom>
          <a:noFill/>
          <a:ln/>
        </p:spPr>
        <p:txBody>
          <a:bodyPr wrap="square" lIns="0" tIns="0" rIns="0" bIns="0" rtlCol="0" anchor="ctr"/>
          <a:lstStyle/>
          <a:p>
            <a:pPr indent="0" marL="0">
              <a:buNone/>
            </a:pPr>
            <a:r>
              <a:rPr lang="en-US" sz="1600" b="1" dirty="0">
                <a:solidFill>
                  <a:schemeClr val="tx2"/>
                </a:solidFill>
              </a:rPr>
              <a:t>Todo el recorrido del niño funciona sin leer ni escribir: solo imágenes, sonidos y botones grandes.</a:t>
            </a:r>
            <a:endParaRPr lang="en-US" sz="16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chemeClr val="tx2"/>
                </a:solidFill>
                <a:latin typeface="Bookman Old Style" pitchFamily="34" charset="0"/>
                <a:ea typeface="Bookman Old Style" pitchFamily="34" charset="-122"/>
                <a:cs typeface="Bookman Old Style" pitchFamily="34" charset="-120"/>
              </a:rPr>
              <a:t>Ingreso en modo aula</a:t>
            </a:r>
            <a:endParaRPr lang="en-US" sz="3000" dirty="0"/>
          </a:p>
        </p:txBody>
      </p:sp>
      <p:sp>
        <p:nvSpPr>
          <p:cNvPr id="3" name="text-110"/>
          <p:cNvSpPr txBox="1"/>
          <p:nvPr/>
        </p:nvSpPr>
        <p:spPr>
          <a:xfrm>
            <a:off x="457200" y="123444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 name="text-111"/>
          <p:cNvSpPr txBox="1"/>
          <p:nvPr/>
        </p:nvSpPr>
        <p:spPr>
          <a:xfrm>
            <a:off x="1005840" y="1188720"/>
            <a:ext cx="2743200" cy="731520"/>
          </a:xfrm>
          <a:prstGeom prst="rect">
            <a:avLst/>
          </a:prstGeom>
          <a:noFill/>
          <a:ln/>
        </p:spPr>
        <p:txBody>
          <a:bodyPr wrap="square" lIns="0" tIns="0" rIns="0" bIns="0" rtlCol="0" anchor="t"/>
          <a:lstStyle/>
          <a:p>
            <a:pPr indent="0" marL="0">
              <a:buNone/>
            </a:pPr>
            <a:r>
              <a:rPr lang="en-US" sz="1400" dirty="0">
                <a:solidFill>
                  <a:schemeClr val="tx1"/>
                </a:solidFill>
              </a:rPr>
              <a:t>La educadora inicia sesión con su cuenta al comenzar la clase.</a:t>
            </a:r>
            <a:endParaRPr lang="en-US" sz="1400" dirty="0"/>
          </a:p>
        </p:txBody>
      </p:sp>
      <p:sp>
        <p:nvSpPr>
          <p:cNvPr id="5" name="text-112"/>
          <p:cNvSpPr txBox="1"/>
          <p:nvPr/>
        </p:nvSpPr>
        <p:spPr>
          <a:xfrm>
            <a:off x="457200" y="210312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6" name="text-113"/>
          <p:cNvSpPr txBox="1"/>
          <p:nvPr/>
        </p:nvSpPr>
        <p:spPr>
          <a:xfrm>
            <a:off x="1005840" y="2057400"/>
            <a:ext cx="2743200" cy="731520"/>
          </a:xfrm>
          <a:prstGeom prst="rect">
            <a:avLst/>
          </a:prstGeom>
          <a:noFill/>
          <a:ln/>
        </p:spPr>
        <p:txBody>
          <a:bodyPr wrap="square" lIns="0" tIns="0" rIns="0" bIns="0" rtlCol="0" anchor="t"/>
          <a:lstStyle/>
          <a:p>
            <a:pPr indent="0" marL="0">
              <a:buNone/>
            </a:pPr>
            <a:r>
              <a:rPr lang="en-US" sz="1400" dirty="0">
                <a:solidFill>
                  <a:schemeClr val="tx1"/>
                </a:solidFill>
              </a:rPr>
              <a:t>Aparece su curso con la foto o avatar de cada niño.</a:t>
            </a:r>
            <a:endParaRPr lang="en-US" sz="1400" dirty="0"/>
          </a:p>
        </p:txBody>
      </p:sp>
      <p:sp>
        <p:nvSpPr>
          <p:cNvPr id="7" name="text-114"/>
          <p:cNvSpPr txBox="1"/>
          <p:nvPr/>
        </p:nvSpPr>
        <p:spPr>
          <a:xfrm>
            <a:off x="457200" y="297180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8" name="text-115"/>
          <p:cNvSpPr txBox="1"/>
          <p:nvPr/>
        </p:nvSpPr>
        <p:spPr>
          <a:xfrm>
            <a:off x="1005840" y="2926080"/>
            <a:ext cx="2743200" cy="731520"/>
          </a:xfrm>
          <a:prstGeom prst="rect">
            <a:avLst/>
          </a:prstGeom>
          <a:noFill/>
          <a:ln/>
        </p:spPr>
        <p:txBody>
          <a:bodyPr wrap="square" lIns="0" tIns="0" rIns="0" bIns="0" rtlCol="0" anchor="t"/>
          <a:lstStyle/>
          <a:p>
            <a:pPr indent="0" marL="0">
              <a:buNone/>
            </a:pPr>
            <a:r>
              <a:rPr lang="en-US" sz="1400" dirty="0">
                <a:solidFill>
                  <a:schemeClr val="tx1"/>
                </a:solidFill>
              </a:rPr>
              <a:t>El niño toca su foto y entra a su perfil: máximo 2 clics, sin teclado.</a:t>
            </a:r>
            <a:endParaRPr lang="en-US" sz="1400" dirty="0"/>
          </a:p>
        </p:txBody>
      </p:sp>
      <p:pic>
        <p:nvPicPr>
          <p:cNvPr id="9" name="lock" descr="preencoded.png">    </p:cNvPr>
          <p:cNvPicPr>
            <a:picLocks noChangeAspect="1"/>
          </p:cNvPicPr>
          <p:nvPr/>
        </p:nvPicPr>
        <p:blipFill>
          <a:blip r:embed="rId1"/>
          <a:stretch>
            <a:fillRect/>
          </a:stretch>
        </p:blipFill>
        <p:spPr>
          <a:xfrm>
            <a:off x="502920" y="3959352"/>
            <a:ext cx="256032" cy="256032"/>
          </a:xfrm>
          <a:prstGeom prst="rect">
            <a:avLst/>
          </a:prstGeom>
        </p:spPr>
      </p:pic>
      <p:sp>
        <p:nvSpPr>
          <p:cNvPr id="10" name="text-116"/>
          <p:cNvSpPr txBox="1"/>
          <p:nvPr/>
        </p:nvSpPr>
        <p:spPr>
          <a:xfrm>
            <a:off x="1005840" y="3858768"/>
            <a:ext cx="2743200" cy="457200"/>
          </a:xfrm>
          <a:prstGeom prst="rect">
            <a:avLst/>
          </a:prstGeom>
          <a:noFill/>
          <a:ln/>
        </p:spPr>
        <p:txBody>
          <a:bodyPr wrap="square" lIns="0" tIns="0" rIns="0" bIns="0" rtlCol="0" anchor="ctr"/>
          <a:lstStyle/>
          <a:p>
            <a:pPr indent="0" marL="0">
              <a:buNone/>
            </a:pPr>
            <a:r>
              <a:rPr lang="en-US" sz="1200" i="1" dirty="0">
                <a:solidFill>
                  <a:srgbClr val="5B6B7A"/>
                </a:solidFill>
              </a:rPr>
              <a:t>Los datos de cada niño solo los ve su educadora.</a:t>
            </a:r>
            <a:endParaRPr lang="en-US" sz="1200" dirty="0"/>
          </a:p>
        </p:txBody>
      </p:sp>
      <p:sp>
        <p:nvSpPr>
          <p:cNvPr id="11" name="mockup-frame-117"/>
          <p:cNvSpPr/>
          <p:nvPr/>
        </p:nvSpPr>
        <p:spPr>
          <a:xfrm>
            <a:off x="4114800" y="1051560"/>
            <a:ext cx="4572000" cy="3566160"/>
          </a:xfrm>
          <a:prstGeom prst="roundRect">
            <a:avLst>
              <a:gd name="adj" fmla="val 2564"/>
            </a:avLst>
          </a:prstGeom>
          <a:solidFill>
            <a:schemeClr val="bg1"/>
          </a:solidFill>
          <a:ln w="12700">
            <a:solidFill>
              <a:srgbClr val="D3DCE3"/>
            </a:solidFill>
            <a:prstDash val="solid"/>
          </a:ln>
          <a:effectLst>
            <a:outerShdw sx="100000" sy="100000" kx="0" ky="0" algn="bl" rotWithShape="0" blurRad="76200" dist="25400" dir="5400000">
              <a:srgbClr val="1E2A36">
                <a:alpha val="12000"/>
              </a:srgbClr>
            </a:outerShdw>
          </a:effectLst>
        </p:spPr>
      </p:sp>
      <p:sp>
        <p:nvSpPr>
          <p:cNvPr id="12" name="mockup-bar-118"/>
          <p:cNvSpPr/>
          <p:nvPr/>
        </p:nvSpPr>
        <p:spPr>
          <a:xfrm>
            <a:off x="4133088" y="1143000"/>
            <a:ext cx="4535424" cy="182880"/>
          </a:xfrm>
          <a:prstGeom prst="rect">
            <a:avLst/>
          </a:prstGeom>
          <a:solidFill>
            <a:schemeClr val="bg2"/>
          </a:solidFill>
          <a:ln/>
        </p:spPr>
      </p:sp>
      <p:sp>
        <p:nvSpPr>
          <p:cNvPr id="13" name="mockup-bar-119"/>
          <p:cNvSpPr/>
          <p:nvPr/>
        </p:nvSpPr>
        <p:spPr>
          <a:xfrm>
            <a:off x="4133088" y="1069848"/>
            <a:ext cx="4535424" cy="182880"/>
          </a:xfrm>
          <a:prstGeom prst="roundRect">
            <a:avLst>
              <a:gd name="adj" fmla="val 40000"/>
            </a:avLst>
          </a:prstGeom>
          <a:solidFill>
            <a:schemeClr val="bg2"/>
          </a:solidFill>
          <a:ln/>
        </p:spPr>
      </p:sp>
      <p:sp>
        <p:nvSpPr>
          <p:cNvPr id="14" name="mockup-dot-120"/>
          <p:cNvSpPr/>
          <p:nvPr/>
        </p:nvSpPr>
        <p:spPr>
          <a:xfrm>
            <a:off x="4251960" y="1143000"/>
            <a:ext cx="91440" cy="91440"/>
          </a:xfrm>
          <a:prstGeom prst="ellipse">
            <a:avLst/>
          </a:prstGeom>
          <a:solidFill>
            <a:srgbClr val="D45D4A"/>
          </a:solidFill>
          <a:ln/>
        </p:spPr>
      </p:sp>
      <p:sp>
        <p:nvSpPr>
          <p:cNvPr id="15" name="mockup-dot-121"/>
          <p:cNvSpPr/>
          <p:nvPr/>
        </p:nvSpPr>
        <p:spPr>
          <a:xfrm>
            <a:off x="4398264" y="1143000"/>
            <a:ext cx="91440" cy="91440"/>
          </a:xfrm>
          <a:prstGeom prst="ellipse">
            <a:avLst/>
          </a:prstGeom>
          <a:solidFill>
            <a:srgbClr val="F2C14E"/>
          </a:solidFill>
          <a:ln/>
        </p:spPr>
      </p:sp>
      <p:sp>
        <p:nvSpPr>
          <p:cNvPr id="16" name="mockup-dot-122"/>
          <p:cNvSpPr/>
          <p:nvPr/>
        </p:nvSpPr>
        <p:spPr>
          <a:xfrm>
            <a:off x="4544568" y="1143000"/>
            <a:ext cx="91440" cy="91440"/>
          </a:xfrm>
          <a:prstGeom prst="ellipse">
            <a:avLst/>
          </a:prstGeom>
          <a:solidFill>
            <a:srgbClr val="3E8E78"/>
          </a:solidFill>
          <a:ln/>
        </p:spPr>
      </p:sp>
      <p:sp>
        <p:nvSpPr>
          <p:cNvPr id="17" name="text-123"/>
          <p:cNvSpPr txBox="1"/>
          <p:nvPr/>
        </p:nvSpPr>
        <p:spPr>
          <a:xfrm>
            <a:off x="4206240" y="1371600"/>
            <a:ext cx="4389120" cy="365760"/>
          </a:xfrm>
          <a:prstGeom prst="rect">
            <a:avLst/>
          </a:prstGeom>
          <a:noFill/>
          <a:ln/>
        </p:spPr>
        <p:txBody>
          <a:bodyPr wrap="square" lIns="0" tIns="0" rIns="0" bIns="0" rtlCol="0" anchor="ctr"/>
          <a:lstStyle/>
          <a:p>
            <a:pPr algn="ctr" indent="0" marL="0">
              <a:buNone/>
            </a:pPr>
            <a:r>
              <a:rPr lang="en-US" sz="1500" b="1" dirty="0">
                <a:solidFill>
                  <a:schemeClr val="tx2"/>
                </a:solidFill>
              </a:rPr>
              <a:t>Kínder A  ·  ¿Quién eres?</a:t>
            </a:r>
            <a:endParaRPr lang="en-US" sz="1500" dirty="0"/>
          </a:p>
        </p:txBody>
      </p:sp>
      <p:sp>
        <p:nvSpPr>
          <p:cNvPr id="18" name="card-124"/>
          <p:cNvSpPr/>
          <p:nvPr/>
        </p:nvSpPr>
        <p:spPr>
          <a:xfrm>
            <a:off x="4434840" y="1874520"/>
            <a:ext cx="1188720" cy="1188720"/>
          </a:xfrm>
          <a:prstGeom prst="roundRect">
            <a:avLst>
              <a:gd name="adj" fmla="val 9231"/>
            </a:avLst>
          </a:prstGeom>
          <a:solidFill>
            <a:schemeClr val="bg2"/>
          </a:solidFill>
          <a:ln/>
        </p:spPr>
      </p:sp>
      <p:sp>
        <p:nvSpPr>
          <p:cNvPr id="19" name="icon-bg-125"/>
          <p:cNvSpPr/>
          <p:nvPr/>
        </p:nvSpPr>
        <p:spPr>
          <a:xfrm>
            <a:off x="4709160" y="2011680"/>
            <a:ext cx="640080" cy="640080"/>
          </a:xfrm>
          <a:prstGeom prst="ellipse">
            <a:avLst/>
          </a:prstGeom>
          <a:solidFill>
            <a:schemeClr val="accent3"/>
          </a:solidFill>
          <a:ln/>
        </p:spPr>
      </p:sp>
      <p:pic>
        <p:nvPicPr>
          <p:cNvPr id="20" name="icon-126" descr="preencoded.png">    </p:cNvPr>
          <p:cNvPicPr>
            <a:picLocks noChangeAspect="1"/>
          </p:cNvPicPr>
          <p:nvPr/>
        </p:nvPicPr>
        <p:blipFill>
          <a:blip r:embed="rId2"/>
          <a:stretch>
            <a:fillRect/>
          </a:stretch>
        </p:blipFill>
        <p:spPr>
          <a:xfrm>
            <a:off x="4875581" y="2178101"/>
            <a:ext cx="307238" cy="307238"/>
          </a:xfrm>
          <a:prstGeom prst="rect">
            <a:avLst/>
          </a:prstGeom>
        </p:spPr>
      </p:pic>
      <p:sp>
        <p:nvSpPr>
          <p:cNvPr id="21" name="text-127"/>
          <p:cNvSpPr txBox="1"/>
          <p:nvPr/>
        </p:nvSpPr>
        <p:spPr>
          <a:xfrm>
            <a:off x="4434840" y="2715768"/>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Sofía</a:t>
            </a:r>
            <a:endParaRPr lang="en-US" sz="1200" dirty="0"/>
          </a:p>
        </p:txBody>
      </p:sp>
      <p:sp>
        <p:nvSpPr>
          <p:cNvPr id="22" name="card-128"/>
          <p:cNvSpPr/>
          <p:nvPr/>
        </p:nvSpPr>
        <p:spPr>
          <a:xfrm>
            <a:off x="5806440" y="1874520"/>
            <a:ext cx="1188720" cy="1188720"/>
          </a:xfrm>
          <a:prstGeom prst="roundRect">
            <a:avLst>
              <a:gd name="adj" fmla="val 9231"/>
            </a:avLst>
          </a:prstGeom>
          <a:solidFill>
            <a:schemeClr val="bg2"/>
          </a:solidFill>
          <a:ln w="31750">
            <a:solidFill>
              <a:srgbClr val="3E8E78"/>
            </a:solidFill>
            <a:prstDash val="solid"/>
          </a:ln>
        </p:spPr>
      </p:sp>
      <p:sp>
        <p:nvSpPr>
          <p:cNvPr id="23" name="icon-bg-129"/>
          <p:cNvSpPr/>
          <p:nvPr/>
        </p:nvSpPr>
        <p:spPr>
          <a:xfrm>
            <a:off x="6080760" y="2011680"/>
            <a:ext cx="640080" cy="640080"/>
          </a:xfrm>
          <a:prstGeom prst="ellipse">
            <a:avLst/>
          </a:prstGeom>
          <a:solidFill>
            <a:schemeClr val="accent2"/>
          </a:solidFill>
          <a:ln/>
        </p:spPr>
      </p:sp>
      <p:pic>
        <p:nvPicPr>
          <p:cNvPr id="24" name="icon-130" descr="preencoded.png">    </p:cNvPr>
          <p:cNvPicPr>
            <a:picLocks noChangeAspect="1"/>
          </p:cNvPicPr>
          <p:nvPr/>
        </p:nvPicPr>
        <p:blipFill>
          <a:blip r:embed="rId3"/>
          <a:stretch>
            <a:fillRect/>
          </a:stretch>
        </p:blipFill>
        <p:spPr>
          <a:xfrm>
            <a:off x="6247181" y="2178101"/>
            <a:ext cx="307238" cy="307238"/>
          </a:xfrm>
          <a:prstGeom prst="rect">
            <a:avLst/>
          </a:prstGeom>
        </p:spPr>
      </p:pic>
      <p:sp>
        <p:nvSpPr>
          <p:cNvPr id="25" name="text-131"/>
          <p:cNvSpPr txBox="1"/>
          <p:nvPr/>
        </p:nvSpPr>
        <p:spPr>
          <a:xfrm>
            <a:off x="5806440" y="2715768"/>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Tomás</a:t>
            </a:r>
            <a:endParaRPr lang="en-US" sz="1200" dirty="0"/>
          </a:p>
        </p:txBody>
      </p:sp>
      <p:sp>
        <p:nvSpPr>
          <p:cNvPr id="26" name="card-132"/>
          <p:cNvSpPr/>
          <p:nvPr/>
        </p:nvSpPr>
        <p:spPr>
          <a:xfrm>
            <a:off x="7178040" y="1874520"/>
            <a:ext cx="1188720" cy="1188720"/>
          </a:xfrm>
          <a:prstGeom prst="roundRect">
            <a:avLst>
              <a:gd name="adj" fmla="val 9231"/>
            </a:avLst>
          </a:prstGeom>
          <a:solidFill>
            <a:schemeClr val="bg2"/>
          </a:solidFill>
          <a:ln/>
        </p:spPr>
      </p:sp>
      <p:sp>
        <p:nvSpPr>
          <p:cNvPr id="27" name="icon-bg-133"/>
          <p:cNvSpPr/>
          <p:nvPr/>
        </p:nvSpPr>
        <p:spPr>
          <a:xfrm>
            <a:off x="7452360" y="2011680"/>
            <a:ext cx="640080" cy="640080"/>
          </a:xfrm>
          <a:prstGeom prst="ellipse">
            <a:avLst/>
          </a:prstGeom>
          <a:solidFill>
            <a:schemeClr val="accent5"/>
          </a:solidFill>
          <a:ln/>
        </p:spPr>
      </p:sp>
      <p:pic>
        <p:nvPicPr>
          <p:cNvPr id="28" name="icon-134" descr="preencoded.png">    </p:cNvPr>
          <p:cNvPicPr>
            <a:picLocks noChangeAspect="1"/>
          </p:cNvPicPr>
          <p:nvPr/>
        </p:nvPicPr>
        <p:blipFill>
          <a:blip r:embed="rId4"/>
          <a:stretch>
            <a:fillRect/>
          </a:stretch>
        </p:blipFill>
        <p:spPr>
          <a:xfrm>
            <a:off x="7618781" y="2178101"/>
            <a:ext cx="307238" cy="307238"/>
          </a:xfrm>
          <a:prstGeom prst="rect">
            <a:avLst/>
          </a:prstGeom>
        </p:spPr>
      </p:pic>
      <p:sp>
        <p:nvSpPr>
          <p:cNvPr id="29" name="text-135"/>
          <p:cNvSpPr txBox="1"/>
          <p:nvPr/>
        </p:nvSpPr>
        <p:spPr>
          <a:xfrm>
            <a:off x="7178040" y="2715768"/>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Martina</a:t>
            </a:r>
            <a:endParaRPr lang="en-US" sz="1200" dirty="0"/>
          </a:p>
        </p:txBody>
      </p:sp>
      <p:sp>
        <p:nvSpPr>
          <p:cNvPr id="30" name="card-136"/>
          <p:cNvSpPr/>
          <p:nvPr/>
        </p:nvSpPr>
        <p:spPr>
          <a:xfrm>
            <a:off x="4434840" y="3200400"/>
            <a:ext cx="1188720" cy="1188720"/>
          </a:xfrm>
          <a:prstGeom prst="roundRect">
            <a:avLst>
              <a:gd name="adj" fmla="val 9231"/>
            </a:avLst>
          </a:prstGeom>
          <a:solidFill>
            <a:schemeClr val="bg2"/>
          </a:solidFill>
          <a:ln/>
        </p:spPr>
      </p:sp>
      <p:sp>
        <p:nvSpPr>
          <p:cNvPr id="31" name="icon-bg-137"/>
          <p:cNvSpPr/>
          <p:nvPr/>
        </p:nvSpPr>
        <p:spPr>
          <a:xfrm>
            <a:off x="4709160" y="3337560"/>
            <a:ext cx="640080" cy="640080"/>
          </a:xfrm>
          <a:prstGeom prst="ellipse">
            <a:avLst/>
          </a:prstGeom>
          <a:solidFill>
            <a:schemeClr val="accent4"/>
          </a:solidFill>
          <a:ln/>
        </p:spPr>
      </p:sp>
      <p:pic>
        <p:nvPicPr>
          <p:cNvPr id="32" name="icon-138" descr="preencoded.png">    </p:cNvPr>
          <p:cNvPicPr>
            <a:picLocks noChangeAspect="1"/>
          </p:cNvPicPr>
          <p:nvPr/>
        </p:nvPicPr>
        <p:blipFill>
          <a:blip r:embed="rId5"/>
          <a:stretch>
            <a:fillRect/>
          </a:stretch>
        </p:blipFill>
        <p:spPr>
          <a:xfrm>
            <a:off x="4875581" y="3503981"/>
            <a:ext cx="307238" cy="307238"/>
          </a:xfrm>
          <a:prstGeom prst="rect">
            <a:avLst/>
          </a:prstGeom>
        </p:spPr>
      </p:pic>
      <p:sp>
        <p:nvSpPr>
          <p:cNvPr id="33" name="text-139"/>
          <p:cNvSpPr txBox="1"/>
          <p:nvPr/>
        </p:nvSpPr>
        <p:spPr>
          <a:xfrm>
            <a:off x="4434840" y="4041648"/>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Benjamín</a:t>
            </a:r>
            <a:endParaRPr lang="en-US" sz="1200" dirty="0"/>
          </a:p>
        </p:txBody>
      </p:sp>
      <p:sp>
        <p:nvSpPr>
          <p:cNvPr id="34" name="card-140"/>
          <p:cNvSpPr/>
          <p:nvPr/>
        </p:nvSpPr>
        <p:spPr>
          <a:xfrm>
            <a:off x="5806440" y="3200400"/>
            <a:ext cx="1188720" cy="1188720"/>
          </a:xfrm>
          <a:prstGeom prst="roundRect">
            <a:avLst>
              <a:gd name="adj" fmla="val 9231"/>
            </a:avLst>
          </a:prstGeom>
          <a:solidFill>
            <a:schemeClr val="bg2"/>
          </a:solidFill>
          <a:ln/>
        </p:spPr>
      </p:sp>
      <p:sp>
        <p:nvSpPr>
          <p:cNvPr id="35" name="icon-bg-141"/>
          <p:cNvSpPr/>
          <p:nvPr/>
        </p:nvSpPr>
        <p:spPr>
          <a:xfrm>
            <a:off x="6080760" y="3337560"/>
            <a:ext cx="640080" cy="640080"/>
          </a:xfrm>
          <a:prstGeom prst="ellipse">
            <a:avLst/>
          </a:prstGeom>
          <a:solidFill>
            <a:schemeClr val="accent1"/>
          </a:solidFill>
          <a:ln/>
        </p:spPr>
      </p:sp>
      <p:pic>
        <p:nvPicPr>
          <p:cNvPr id="36" name="icon-142" descr="preencoded.png">    </p:cNvPr>
          <p:cNvPicPr>
            <a:picLocks noChangeAspect="1"/>
          </p:cNvPicPr>
          <p:nvPr/>
        </p:nvPicPr>
        <p:blipFill>
          <a:blip r:embed="rId6"/>
          <a:stretch>
            <a:fillRect/>
          </a:stretch>
        </p:blipFill>
        <p:spPr>
          <a:xfrm>
            <a:off x="6247181" y="3503981"/>
            <a:ext cx="307238" cy="307238"/>
          </a:xfrm>
          <a:prstGeom prst="rect">
            <a:avLst/>
          </a:prstGeom>
        </p:spPr>
      </p:pic>
      <p:sp>
        <p:nvSpPr>
          <p:cNvPr id="37" name="text-143"/>
          <p:cNvSpPr txBox="1"/>
          <p:nvPr/>
        </p:nvSpPr>
        <p:spPr>
          <a:xfrm>
            <a:off x="5806440" y="4041648"/>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Isidora</a:t>
            </a:r>
            <a:endParaRPr lang="en-US" sz="1200" dirty="0"/>
          </a:p>
        </p:txBody>
      </p:sp>
      <p:sp>
        <p:nvSpPr>
          <p:cNvPr id="38" name="card-144"/>
          <p:cNvSpPr/>
          <p:nvPr/>
        </p:nvSpPr>
        <p:spPr>
          <a:xfrm>
            <a:off x="7178040" y="3200400"/>
            <a:ext cx="1188720" cy="1188720"/>
          </a:xfrm>
          <a:prstGeom prst="roundRect">
            <a:avLst>
              <a:gd name="adj" fmla="val 9231"/>
            </a:avLst>
          </a:prstGeom>
          <a:solidFill>
            <a:schemeClr val="bg2"/>
          </a:solidFill>
          <a:ln/>
        </p:spPr>
      </p:sp>
      <p:sp>
        <p:nvSpPr>
          <p:cNvPr id="39" name="icon-bg-145"/>
          <p:cNvSpPr/>
          <p:nvPr/>
        </p:nvSpPr>
        <p:spPr>
          <a:xfrm>
            <a:off x="7452360" y="3337560"/>
            <a:ext cx="640080" cy="640080"/>
          </a:xfrm>
          <a:prstGeom prst="ellipse">
            <a:avLst/>
          </a:prstGeom>
          <a:solidFill>
            <a:schemeClr val="accent2"/>
          </a:solidFill>
          <a:ln/>
        </p:spPr>
      </p:sp>
      <p:pic>
        <p:nvPicPr>
          <p:cNvPr id="40" name="icon-146" descr="preencoded.png">    </p:cNvPr>
          <p:cNvPicPr>
            <a:picLocks noChangeAspect="1"/>
          </p:cNvPicPr>
          <p:nvPr/>
        </p:nvPicPr>
        <p:blipFill>
          <a:blip r:embed="rId7"/>
          <a:stretch>
            <a:fillRect/>
          </a:stretch>
        </p:blipFill>
        <p:spPr>
          <a:xfrm>
            <a:off x="7618781" y="3503981"/>
            <a:ext cx="307238" cy="307238"/>
          </a:xfrm>
          <a:prstGeom prst="rect">
            <a:avLst/>
          </a:prstGeom>
        </p:spPr>
      </p:pic>
      <p:sp>
        <p:nvSpPr>
          <p:cNvPr id="41" name="text-147"/>
          <p:cNvSpPr txBox="1"/>
          <p:nvPr/>
        </p:nvSpPr>
        <p:spPr>
          <a:xfrm>
            <a:off x="7178040" y="4041648"/>
            <a:ext cx="1188720" cy="274320"/>
          </a:xfrm>
          <a:prstGeom prst="rect">
            <a:avLst/>
          </a:prstGeom>
          <a:noFill/>
          <a:ln/>
        </p:spPr>
        <p:txBody>
          <a:bodyPr wrap="square" lIns="0" tIns="0" rIns="0" bIns="0" rtlCol="0" anchor="ctr"/>
          <a:lstStyle/>
          <a:p>
            <a:pPr algn="ctr" indent="0" marL="0">
              <a:buNone/>
            </a:pPr>
            <a:r>
              <a:rPr lang="en-US" sz="1200" b="1" dirty="0">
                <a:solidFill>
                  <a:schemeClr val="tx1"/>
                </a:solidFill>
              </a:rPr>
              <a:t>Lucas</a:t>
            </a:r>
            <a:endParaRPr lang="en-US" sz="1200" dirty="0"/>
          </a:p>
        </p:txBody>
      </p:sp>
      <p:pic>
        <p:nvPicPr>
          <p:cNvPr id="42" name="cursor" descr="preencoded.png">    </p:cNvPr>
          <p:cNvPicPr>
            <a:picLocks noChangeAspect="1"/>
          </p:cNvPicPr>
          <p:nvPr/>
        </p:nvPicPr>
        <p:blipFill>
          <a:blip r:embed="rId8"/>
          <a:stretch>
            <a:fillRect/>
          </a:stretch>
        </p:blipFill>
        <p:spPr>
          <a:xfrm>
            <a:off x="6675120" y="2697480"/>
            <a:ext cx="274320" cy="274320"/>
          </a:xfrm>
          <a:prstGeom prst="rect">
            <a:avLst/>
          </a:prstGeom>
        </p:spPr>
      </p:pic>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chemeClr val="tx2"/>
                </a:solidFill>
                <a:latin typeface="Bookman Old Style" pitchFamily="34" charset="0"/>
                <a:ea typeface="Bookman Old Style" pitchFamily="34" charset="-122"/>
                <a:cs typeface="Bookman Old Style" pitchFamily="34" charset="-120"/>
              </a:rPr>
              <a:t>El dashboard del niño</a:t>
            </a:r>
            <a:endParaRPr lang="en-US" sz="3000" dirty="0"/>
          </a:p>
        </p:txBody>
      </p:sp>
      <p:sp>
        <p:nvSpPr>
          <p:cNvPr id="3" name="mockup-frame-148"/>
          <p:cNvSpPr/>
          <p:nvPr/>
        </p:nvSpPr>
        <p:spPr>
          <a:xfrm>
            <a:off x="457200" y="1005840"/>
            <a:ext cx="5394960" cy="3611880"/>
          </a:xfrm>
          <a:prstGeom prst="roundRect">
            <a:avLst>
              <a:gd name="adj" fmla="val 2532"/>
            </a:avLst>
          </a:prstGeom>
          <a:solidFill>
            <a:schemeClr val="bg1"/>
          </a:solidFill>
          <a:ln w="12700">
            <a:solidFill>
              <a:srgbClr val="D3DCE3"/>
            </a:solidFill>
            <a:prstDash val="solid"/>
          </a:ln>
          <a:effectLst>
            <a:outerShdw sx="100000" sy="100000" kx="0" ky="0" algn="bl" rotWithShape="0" blurRad="76200" dist="25400" dir="5400000">
              <a:srgbClr val="1E2A36">
                <a:alpha val="12000"/>
              </a:srgbClr>
            </a:outerShdw>
          </a:effectLst>
        </p:spPr>
      </p:sp>
      <p:sp>
        <p:nvSpPr>
          <p:cNvPr id="4" name="mockup-bar-149"/>
          <p:cNvSpPr/>
          <p:nvPr/>
        </p:nvSpPr>
        <p:spPr>
          <a:xfrm>
            <a:off x="475488" y="1097280"/>
            <a:ext cx="5358384" cy="182880"/>
          </a:xfrm>
          <a:prstGeom prst="rect">
            <a:avLst/>
          </a:prstGeom>
          <a:solidFill>
            <a:schemeClr val="bg2"/>
          </a:solidFill>
          <a:ln/>
        </p:spPr>
      </p:sp>
      <p:sp>
        <p:nvSpPr>
          <p:cNvPr id="5" name="mockup-bar-150"/>
          <p:cNvSpPr/>
          <p:nvPr/>
        </p:nvSpPr>
        <p:spPr>
          <a:xfrm>
            <a:off x="475488" y="1024128"/>
            <a:ext cx="5358384" cy="182880"/>
          </a:xfrm>
          <a:prstGeom prst="roundRect">
            <a:avLst>
              <a:gd name="adj" fmla="val 40000"/>
            </a:avLst>
          </a:prstGeom>
          <a:solidFill>
            <a:schemeClr val="bg2"/>
          </a:solidFill>
          <a:ln/>
        </p:spPr>
      </p:sp>
      <p:sp>
        <p:nvSpPr>
          <p:cNvPr id="6" name="mockup-dot-151"/>
          <p:cNvSpPr/>
          <p:nvPr/>
        </p:nvSpPr>
        <p:spPr>
          <a:xfrm>
            <a:off x="594360" y="1097280"/>
            <a:ext cx="91440" cy="91440"/>
          </a:xfrm>
          <a:prstGeom prst="ellipse">
            <a:avLst/>
          </a:prstGeom>
          <a:solidFill>
            <a:srgbClr val="D45D4A"/>
          </a:solidFill>
          <a:ln/>
        </p:spPr>
      </p:sp>
      <p:sp>
        <p:nvSpPr>
          <p:cNvPr id="7" name="mockup-dot-152"/>
          <p:cNvSpPr/>
          <p:nvPr/>
        </p:nvSpPr>
        <p:spPr>
          <a:xfrm>
            <a:off x="740664" y="1097280"/>
            <a:ext cx="91440" cy="91440"/>
          </a:xfrm>
          <a:prstGeom prst="ellipse">
            <a:avLst/>
          </a:prstGeom>
          <a:solidFill>
            <a:srgbClr val="F2C14E"/>
          </a:solidFill>
          <a:ln/>
        </p:spPr>
      </p:sp>
      <p:sp>
        <p:nvSpPr>
          <p:cNvPr id="8" name="mockup-dot-153"/>
          <p:cNvSpPr/>
          <p:nvPr/>
        </p:nvSpPr>
        <p:spPr>
          <a:xfrm>
            <a:off x="886968" y="1097280"/>
            <a:ext cx="91440" cy="91440"/>
          </a:xfrm>
          <a:prstGeom prst="ellipse">
            <a:avLst/>
          </a:prstGeom>
          <a:solidFill>
            <a:srgbClr val="3E8E78"/>
          </a:solidFill>
          <a:ln/>
        </p:spPr>
      </p:sp>
      <p:sp>
        <p:nvSpPr>
          <p:cNvPr id="9" name="icon-bg-154"/>
          <p:cNvSpPr/>
          <p:nvPr/>
        </p:nvSpPr>
        <p:spPr>
          <a:xfrm>
            <a:off x="731520" y="1371600"/>
            <a:ext cx="548640" cy="548640"/>
          </a:xfrm>
          <a:prstGeom prst="ellipse">
            <a:avLst/>
          </a:prstGeom>
          <a:solidFill>
            <a:schemeClr val="accent2"/>
          </a:solidFill>
          <a:ln/>
        </p:spPr>
      </p:sp>
      <p:pic>
        <p:nvPicPr>
          <p:cNvPr id="10" name="icon-155" descr="preencoded.png">    </p:cNvPr>
          <p:cNvPicPr>
            <a:picLocks noChangeAspect="1"/>
          </p:cNvPicPr>
          <p:nvPr/>
        </p:nvPicPr>
        <p:blipFill>
          <a:blip r:embed="rId1"/>
          <a:stretch>
            <a:fillRect/>
          </a:stretch>
        </p:blipFill>
        <p:spPr>
          <a:xfrm>
            <a:off x="874166" y="1514246"/>
            <a:ext cx="263347" cy="263347"/>
          </a:xfrm>
          <a:prstGeom prst="rect">
            <a:avLst/>
          </a:prstGeom>
        </p:spPr>
      </p:pic>
      <p:sp>
        <p:nvSpPr>
          <p:cNvPr id="11" name="text-156"/>
          <p:cNvSpPr txBox="1"/>
          <p:nvPr/>
        </p:nvSpPr>
        <p:spPr>
          <a:xfrm>
            <a:off x="1417320" y="1371600"/>
            <a:ext cx="2286000" cy="548640"/>
          </a:xfrm>
          <a:prstGeom prst="rect">
            <a:avLst/>
          </a:prstGeom>
          <a:noFill/>
          <a:ln/>
        </p:spPr>
        <p:txBody>
          <a:bodyPr wrap="square" lIns="0" tIns="0" rIns="0" bIns="0" rtlCol="0" anchor="ctr"/>
          <a:lstStyle/>
          <a:p>
            <a:pPr indent="0" marL="0">
              <a:buNone/>
            </a:pPr>
            <a:r>
              <a:rPr lang="en-US" sz="1800" b="1" dirty="0">
                <a:solidFill>
                  <a:schemeClr val="tx2"/>
                </a:solidFill>
              </a:rPr>
              <a:t>¡Hola, Tomás!</a:t>
            </a:r>
            <a:endParaRPr lang="en-US" sz="1800" dirty="0"/>
          </a:p>
        </p:txBody>
      </p:sp>
      <p:sp>
        <p:nvSpPr>
          <p:cNvPr id="12" name="card-157"/>
          <p:cNvSpPr/>
          <p:nvPr/>
        </p:nvSpPr>
        <p:spPr>
          <a:xfrm>
            <a:off x="4434840" y="1463040"/>
            <a:ext cx="1143000" cy="384048"/>
          </a:xfrm>
          <a:prstGeom prst="roundRect">
            <a:avLst>
              <a:gd name="adj" fmla="val 47619"/>
            </a:avLst>
          </a:prstGeom>
          <a:solidFill>
            <a:srgbClr val="FFF3D1"/>
          </a:solidFill>
          <a:ln/>
        </p:spPr>
      </p:sp>
      <p:pic>
        <p:nvPicPr>
          <p:cNvPr id="13" name="coins" descr="preencoded.png">    </p:cNvPr>
          <p:cNvPicPr>
            <a:picLocks noChangeAspect="1"/>
          </p:cNvPicPr>
          <p:nvPr/>
        </p:nvPicPr>
        <p:blipFill>
          <a:blip r:embed="rId2"/>
          <a:stretch>
            <a:fillRect/>
          </a:stretch>
        </p:blipFill>
        <p:spPr>
          <a:xfrm>
            <a:off x="4572000" y="1536192"/>
            <a:ext cx="237744" cy="237744"/>
          </a:xfrm>
          <a:prstGeom prst="rect">
            <a:avLst/>
          </a:prstGeom>
        </p:spPr>
      </p:pic>
      <p:sp>
        <p:nvSpPr>
          <p:cNvPr id="14" name="text-158"/>
          <p:cNvSpPr txBox="1"/>
          <p:nvPr/>
        </p:nvSpPr>
        <p:spPr>
          <a:xfrm>
            <a:off x="4892040" y="1463040"/>
            <a:ext cx="594360" cy="384048"/>
          </a:xfrm>
          <a:prstGeom prst="rect">
            <a:avLst/>
          </a:prstGeom>
          <a:noFill/>
          <a:ln/>
        </p:spPr>
        <p:txBody>
          <a:bodyPr wrap="square" lIns="0" tIns="0" rIns="0" bIns="0" rtlCol="0" anchor="ctr"/>
          <a:lstStyle/>
          <a:p>
            <a:pPr indent="0" marL="0">
              <a:buNone/>
            </a:pPr>
            <a:r>
              <a:rPr lang="en-US" sz="1400" b="1" dirty="0">
                <a:solidFill>
                  <a:schemeClr val="tx1"/>
                </a:solidFill>
              </a:rPr>
              <a:t>120</a:t>
            </a:r>
            <a:endParaRPr lang="en-US" sz="1400" dirty="0"/>
          </a:p>
        </p:txBody>
      </p:sp>
      <p:sp>
        <p:nvSpPr>
          <p:cNvPr id="15" name="card-159"/>
          <p:cNvSpPr/>
          <p:nvPr/>
        </p:nvSpPr>
        <p:spPr>
          <a:xfrm>
            <a:off x="731520" y="2103120"/>
            <a:ext cx="2331720" cy="1078992"/>
          </a:xfrm>
          <a:prstGeom prst="roundRect">
            <a:avLst>
              <a:gd name="adj" fmla="val 10169"/>
            </a:avLst>
          </a:prstGeom>
          <a:solidFill>
            <a:schemeClr val="accent1"/>
          </a:solidFill>
          <a:ln/>
        </p:spPr>
      </p:sp>
      <p:sp>
        <p:nvSpPr>
          <p:cNvPr id="16" name="text-160"/>
          <p:cNvSpPr txBox="1"/>
          <p:nvPr/>
        </p:nvSpPr>
        <p:spPr>
          <a:xfrm>
            <a:off x="731520" y="2212848"/>
            <a:ext cx="233172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A E I O U</a:t>
            </a:r>
            <a:endParaRPr lang="en-US" sz="2200" dirty="0"/>
          </a:p>
        </p:txBody>
      </p:sp>
      <p:sp>
        <p:nvSpPr>
          <p:cNvPr id="17" name="text-161"/>
          <p:cNvSpPr txBox="1"/>
          <p:nvPr/>
        </p:nvSpPr>
        <p:spPr>
          <a:xfrm>
            <a:off x="731520" y="2761488"/>
            <a:ext cx="2331720" cy="320040"/>
          </a:xfrm>
          <a:prstGeom prst="rect">
            <a:avLst/>
          </a:prstGeom>
          <a:noFill/>
          <a:ln/>
        </p:spPr>
        <p:txBody>
          <a:bodyPr wrap="square" lIns="0" tIns="0" rIns="0" bIns="0" rtlCol="0" anchor="ctr"/>
          <a:lstStyle/>
          <a:p>
            <a:pPr algn="ctr" indent="0" marL="0">
              <a:buNone/>
            </a:pPr>
            <a:r>
              <a:rPr lang="en-US" sz="1500" b="1" dirty="0">
                <a:solidFill>
                  <a:schemeClr val="bg1"/>
                </a:solidFill>
              </a:rPr>
              <a:t>Vocales</a:t>
            </a:r>
            <a:endParaRPr lang="en-US" sz="1500" dirty="0"/>
          </a:p>
        </p:txBody>
      </p:sp>
      <p:sp>
        <p:nvSpPr>
          <p:cNvPr id="18" name="card-162"/>
          <p:cNvSpPr/>
          <p:nvPr/>
        </p:nvSpPr>
        <p:spPr>
          <a:xfrm>
            <a:off x="3246120" y="2103120"/>
            <a:ext cx="2331720" cy="1078992"/>
          </a:xfrm>
          <a:prstGeom prst="roundRect">
            <a:avLst>
              <a:gd name="adj" fmla="val 10169"/>
            </a:avLst>
          </a:prstGeom>
          <a:solidFill>
            <a:schemeClr val="accent2"/>
          </a:solidFill>
          <a:ln/>
        </p:spPr>
      </p:sp>
      <p:sp>
        <p:nvSpPr>
          <p:cNvPr id="19" name="text-163"/>
          <p:cNvSpPr txBox="1"/>
          <p:nvPr/>
        </p:nvSpPr>
        <p:spPr>
          <a:xfrm>
            <a:off x="3246120" y="2212848"/>
            <a:ext cx="233172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Arial" pitchFamily="34" charset="0"/>
                <a:ea typeface="Arial" pitchFamily="34" charset="-122"/>
                <a:cs typeface="Arial" pitchFamily="34" charset="-120"/>
              </a:rPr>
              <a:t>MA  PE</a:t>
            </a:r>
            <a:endParaRPr lang="en-US" sz="2200" dirty="0"/>
          </a:p>
        </p:txBody>
      </p:sp>
      <p:sp>
        <p:nvSpPr>
          <p:cNvPr id="20" name="text-164"/>
          <p:cNvSpPr txBox="1"/>
          <p:nvPr/>
        </p:nvSpPr>
        <p:spPr>
          <a:xfrm>
            <a:off x="3246120" y="2761488"/>
            <a:ext cx="2331720" cy="320040"/>
          </a:xfrm>
          <a:prstGeom prst="rect">
            <a:avLst/>
          </a:prstGeom>
          <a:noFill/>
          <a:ln/>
        </p:spPr>
        <p:txBody>
          <a:bodyPr wrap="square" lIns="0" tIns="0" rIns="0" bIns="0" rtlCol="0" anchor="ctr"/>
          <a:lstStyle/>
          <a:p>
            <a:pPr algn="ctr" indent="0" marL="0">
              <a:buNone/>
            </a:pPr>
            <a:r>
              <a:rPr lang="en-US" sz="1500" b="1" dirty="0">
                <a:solidFill>
                  <a:schemeClr val="bg1"/>
                </a:solidFill>
              </a:rPr>
              <a:t>Sílabas</a:t>
            </a:r>
            <a:endParaRPr lang="en-US" sz="1500" dirty="0"/>
          </a:p>
        </p:txBody>
      </p:sp>
      <p:sp>
        <p:nvSpPr>
          <p:cNvPr id="21" name="card-165"/>
          <p:cNvSpPr/>
          <p:nvPr/>
        </p:nvSpPr>
        <p:spPr>
          <a:xfrm>
            <a:off x="731520" y="3310128"/>
            <a:ext cx="2331720" cy="1078992"/>
          </a:xfrm>
          <a:prstGeom prst="roundRect">
            <a:avLst>
              <a:gd name="adj" fmla="val 10169"/>
            </a:avLst>
          </a:prstGeom>
          <a:solidFill>
            <a:schemeClr val="accent4"/>
          </a:solidFill>
          <a:ln/>
        </p:spPr>
      </p:sp>
      <p:pic>
        <p:nvPicPr>
          <p:cNvPr id="22" name="tile-icon-166" descr="preencoded.png">    </p:cNvPr>
          <p:cNvPicPr>
            <a:picLocks noChangeAspect="1"/>
          </p:cNvPicPr>
          <p:nvPr/>
        </p:nvPicPr>
        <p:blipFill>
          <a:blip r:embed="rId3"/>
          <a:stretch>
            <a:fillRect/>
          </a:stretch>
        </p:blipFill>
        <p:spPr>
          <a:xfrm>
            <a:off x="1691640" y="3465576"/>
            <a:ext cx="411480" cy="411480"/>
          </a:xfrm>
          <a:prstGeom prst="rect">
            <a:avLst/>
          </a:prstGeom>
        </p:spPr>
      </p:pic>
      <p:sp>
        <p:nvSpPr>
          <p:cNvPr id="23" name="text-167"/>
          <p:cNvSpPr txBox="1"/>
          <p:nvPr/>
        </p:nvSpPr>
        <p:spPr>
          <a:xfrm>
            <a:off x="731520" y="3968496"/>
            <a:ext cx="2331720" cy="320040"/>
          </a:xfrm>
          <a:prstGeom prst="rect">
            <a:avLst/>
          </a:prstGeom>
          <a:noFill/>
          <a:ln/>
        </p:spPr>
        <p:txBody>
          <a:bodyPr wrap="square" lIns="0" tIns="0" rIns="0" bIns="0" rtlCol="0" anchor="ctr"/>
          <a:lstStyle/>
          <a:p>
            <a:pPr algn="ctr" indent="0" marL="0">
              <a:buNone/>
            </a:pPr>
            <a:r>
              <a:rPr lang="en-US" sz="1500" b="1" dirty="0">
                <a:solidFill>
                  <a:schemeClr val="bg1"/>
                </a:solidFill>
              </a:rPr>
              <a:t>Cuentos</a:t>
            </a:r>
            <a:endParaRPr lang="en-US" sz="1500" dirty="0"/>
          </a:p>
        </p:txBody>
      </p:sp>
      <p:sp>
        <p:nvSpPr>
          <p:cNvPr id="24" name="card-168"/>
          <p:cNvSpPr/>
          <p:nvPr/>
        </p:nvSpPr>
        <p:spPr>
          <a:xfrm>
            <a:off x="3246120" y="3310128"/>
            <a:ext cx="2331720" cy="1078992"/>
          </a:xfrm>
          <a:prstGeom prst="roundRect">
            <a:avLst>
              <a:gd name="adj" fmla="val 10169"/>
            </a:avLst>
          </a:prstGeom>
          <a:solidFill>
            <a:schemeClr val="accent5"/>
          </a:solidFill>
          <a:ln/>
        </p:spPr>
      </p:sp>
      <p:pic>
        <p:nvPicPr>
          <p:cNvPr id="25" name="tile-icon-169" descr="preencoded.png">    </p:cNvPr>
          <p:cNvPicPr>
            <a:picLocks noChangeAspect="1"/>
          </p:cNvPicPr>
          <p:nvPr/>
        </p:nvPicPr>
        <p:blipFill>
          <a:blip r:embed="rId4"/>
          <a:stretch>
            <a:fillRect/>
          </a:stretch>
        </p:blipFill>
        <p:spPr>
          <a:xfrm>
            <a:off x="4206240" y="3465576"/>
            <a:ext cx="411480" cy="411480"/>
          </a:xfrm>
          <a:prstGeom prst="rect">
            <a:avLst/>
          </a:prstGeom>
        </p:spPr>
      </p:pic>
      <p:sp>
        <p:nvSpPr>
          <p:cNvPr id="26" name="text-170"/>
          <p:cNvSpPr txBox="1"/>
          <p:nvPr/>
        </p:nvSpPr>
        <p:spPr>
          <a:xfrm>
            <a:off x="3246120" y="3968496"/>
            <a:ext cx="2331720" cy="320040"/>
          </a:xfrm>
          <a:prstGeom prst="rect">
            <a:avLst/>
          </a:prstGeom>
          <a:noFill/>
          <a:ln/>
        </p:spPr>
        <p:txBody>
          <a:bodyPr wrap="square" lIns="0" tIns="0" rIns="0" bIns="0" rtlCol="0" anchor="ctr"/>
          <a:lstStyle/>
          <a:p>
            <a:pPr algn="ctr" indent="0" marL="0">
              <a:buNone/>
            </a:pPr>
            <a:r>
              <a:rPr lang="en-US" sz="1500" b="1" dirty="0">
                <a:solidFill>
                  <a:schemeClr val="bg1"/>
                </a:solidFill>
              </a:rPr>
              <a:t>Canciones</a:t>
            </a:r>
            <a:endParaRPr lang="en-US" sz="1500" dirty="0"/>
          </a:p>
        </p:txBody>
      </p:sp>
      <p:sp>
        <p:nvSpPr>
          <p:cNvPr id="27" name="card-171"/>
          <p:cNvSpPr/>
          <p:nvPr/>
        </p:nvSpPr>
        <p:spPr>
          <a:xfrm>
            <a:off x="6126480" y="1005840"/>
            <a:ext cx="2560320" cy="1783080"/>
          </a:xfrm>
          <a:prstGeom prst="roundRect">
            <a:avLst>
              <a:gd name="adj" fmla="val 6154"/>
            </a:avLst>
          </a:prstGeom>
          <a:solidFill>
            <a:schemeClr val="bg2"/>
          </a:solidFill>
          <a:ln/>
        </p:spPr>
      </p:sp>
      <p:sp>
        <p:nvSpPr>
          <p:cNvPr id="28" name="text-172"/>
          <p:cNvSpPr txBox="1"/>
          <p:nvPr/>
        </p:nvSpPr>
        <p:spPr>
          <a:xfrm>
            <a:off x="6263640" y="1115568"/>
            <a:ext cx="2286000" cy="320040"/>
          </a:xfrm>
          <a:prstGeom prst="rect">
            <a:avLst/>
          </a:prstGeom>
          <a:noFill/>
          <a:ln/>
        </p:spPr>
        <p:txBody>
          <a:bodyPr wrap="square" lIns="0" tIns="0" rIns="0" bIns="0" rtlCol="0" anchor="t"/>
          <a:lstStyle/>
          <a:p>
            <a:pPr algn="ctr" indent="0" marL="0">
              <a:buNone/>
            </a:pPr>
            <a:r>
              <a:rPr lang="en-US" sz="1400" b="1" dirty="0">
                <a:solidFill>
                  <a:schemeClr val="tx2"/>
                </a:solidFill>
              </a:rPr>
              <a:t>¿Cómo te sientes hoy?</a:t>
            </a:r>
            <a:endParaRPr lang="en-US" sz="1400" dirty="0"/>
          </a:p>
        </p:txBody>
      </p:sp>
      <p:sp>
        <p:nvSpPr>
          <p:cNvPr id="29" name="icon-bg-173"/>
          <p:cNvSpPr/>
          <p:nvPr/>
        </p:nvSpPr>
        <p:spPr>
          <a:xfrm>
            <a:off x="6291072" y="1600200"/>
            <a:ext cx="502920" cy="502920"/>
          </a:xfrm>
          <a:prstGeom prst="ellipse">
            <a:avLst/>
          </a:prstGeom>
          <a:solidFill>
            <a:srgbClr val="F2C14E"/>
          </a:solidFill>
          <a:ln/>
        </p:spPr>
      </p:sp>
      <p:pic>
        <p:nvPicPr>
          <p:cNvPr id="30" name="icon-174" descr="preencoded.png">    </p:cNvPr>
          <p:cNvPicPr>
            <a:picLocks noChangeAspect="1"/>
          </p:cNvPicPr>
          <p:nvPr/>
        </p:nvPicPr>
        <p:blipFill>
          <a:blip r:embed="rId5"/>
          <a:stretch>
            <a:fillRect/>
          </a:stretch>
        </p:blipFill>
        <p:spPr>
          <a:xfrm>
            <a:off x="6421831" y="1730959"/>
            <a:ext cx="241402" cy="241402"/>
          </a:xfrm>
          <a:prstGeom prst="rect">
            <a:avLst/>
          </a:prstGeom>
        </p:spPr>
      </p:pic>
      <p:sp>
        <p:nvSpPr>
          <p:cNvPr id="31" name="text-175"/>
          <p:cNvSpPr txBox="1"/>
          <p:nvPr/>
        </p:nvSpPr>
        <p:spPr>
          <a:xfrm>
            <a:off x="6236208" y="2194560"/>
            <a:ext cx="612648" cy="274320"/>
          </a:xfrm>
          <a:prstGeom prst="rect">
            <a:avLst/>
          </a:prstGeom>
          <a:noFill/>
          <a:ln/>
        </p:spPr>
        <p:txBody>
          <a:bodyPr wrap="square" lIns="0" tIns="0" rIns="0" bIns="0" rtlCol="0" anchor="t"/>
          <a:lstStyle/>
          <a:p>
            <a:pPr algn="ctr" indent="0" marL="0">
              <a:buNone/>
            </a:pPr>
            <a:r>
              <a:rPr lang="en-US" sz="1000" dirty="0">
                <a:solidFill>
                  <a:schemeClr val="tx1"/>
                </a:solidFill>
              </a:rPr>
              <a:t>Feliz</a:t>
            </a:r>
            <a:endParaRPr lang="en-US" sz="1000" dirty="0"/>
          </a:p>
        </p:txBody>
      </p:sp>
      <p:sp>
        <p:nvSpPr>
          <p:cNvPr id="32" name="icon-bg-176"/>
          <p:cNvSpPr/>
          <p:nvPr/>
        </p:nvSpPr>
        <p:spPr>
          <a:xfrm>
            <a:off x="6867144" y="1600200"/>
            <a:ext cx="502920" cy="502920"/>
          </a:xfrm>
          <a:prstGeom prst="ellipse">
            <a:avLst/>
          </a:prstGeom>
          <a:solidFill>
            <a:srgbClr val="3E8E78"/>
          </a:solidFill>
          <a:ln/>
        </p:spPr>
      </p:sp>
      <p:pic>
        <p:nvPicPr>
          <p:cNvPr id="33" name="icon-177" descr="preencoded.png">    </p:cNvPr>
          <p:cNvPicPr>
            <a:picLocks noChangeAspect="1"/>
          </p:cNvPicPr>
          <p:nvPr/>
        </p:nvPicPr>
        <p:blipFill>
          <a:blip r:embed="rId6"/>
          <a:stretch>
            <a:fillRect/>
          </a:stretch>
        </p:blipFill>
        <p:spPr>
          <a:xfrm>
            <a:off x="6997903" y="1730959"/>
            <a:ext cx="241402" cy="241402"/>
          </a:xfrm>
          <a:prstGeom prst="rect">
            <a:avLst/>
          </a:prstGeom>
        </p:spPr>
      </p:pic>
      <p:sp>
        <p:nvSpPr>
          <p:cNvPr id="34" name="text-178"/>
          <p:cNvSpPr txBox="1"/>
          <p:nvPr/>
        </p:nvSpPr>
        <p:spPr>
          <a:xfrm>
            <a:off x="6812280" y="2194560"/>
            <a:ext cx="612648" cy="274320"/>
          </a:xfrm>
          <a:prstGeom prst="rect">
            <a:avLst/>
          </a:prstGeom>
          <a:noFill/>
          <a:ln/>
        </p:spPr>
        <p:txBody>
          <a:bodyPr wrap="square" lIns="0" tIns="0" rIns="0" bIns="0" rtlCol="0" anchor="t"/>
          <a:lstStyle/>
          <a:p>
            <a:pPr algn="ctr" indent="0" marL="0">
              <a:buNone/>
            </a:pPr>
            <a:r>
              <a:rPr lang="en-US" sz="1000" dirty="0">
                <a:solidFill>
                  <a:schemeClr val="tx1"/>
                </a:solidFill>
              </a:rPr>
              <a:t>Tranquilo</a:t>
            </a:r>
            <a:endParaRPr lang="en-US" sz="1000" dirty="0"/>
          </a:p>
        </p:txBody>
      </p:sp>
      <p:sp>
        <p:nvSpPr>
          <p:cNvPr id="35" name="icon-bg-179"/>
          <p:cNvSpPr/>
          <p:nvPr/>
        </p:nvSpPr>
        <p:spPr>
          <a:xfrm>
            <a:off x="7443216" y="1600200"/>
            <a:ext cx="502920" cy="502920"/>
          </a:xfrm>
          <a:prstGeom prst="ellipse">
            <a:avLst/>
          </a:prstGeom>
          <a:solidFill>
            <a:srgbClr val="4A7BA7"/>
          </a:solidFill>
          <a:ln/>
        </p:spPr>
      </p:sp>
      <p:pic>
        <p:nvPicPr>
          <p:cNvPr id="36" name="icon-180" descr="preencoded.png">    </p:cNvPr>
          <p:cNvPicPr>
            <a:picLocks noChangeAspect="1"/>
          </p:cNvPicPr>
          <p:nvPr/>
        </p:nvPicPr>
        <p:blipFill>
          <a:blip r:embed="rId7"/>
          <a:stretch>
            <a:fillRect/>
          </a:stretch>
        </p:blipFill>
        <p:spPr>
          <a:xfrm>
            <a:off x="7573975" y="1730959"/>
            <a:ext cx="241402" cy="241402"/>
          </a:xfrm>
          <a:prstGeom prst="rect">
            <a:avLst/>
          </a:prstGeom>
        </p:spPr>
      </p:pic>
      <p:sp>
        <p:nvSpPr>
          <p:cNvPr id="37" name="text-181"/>
          <p:cNvSpPr txBox="1"/>
          <p:nvPr/>
        </p:nvSpPr>
        <p:spPr>
          <a:xfrm>
            <a:off x="7388352" y="2194560"/>
            <a:ext cx="612648" cy="274320"/>
          </a:xfrm>
          <a:prstGeom prst="rect">
            <a:avLst/>
          </a:prstGeom>
          <a:noFill/>
          <a:ln/>
        </p:spPr>
        <p:txBody>
          <a:bodyPr wrap="square" lIns="0" tIns="0" rIns="0" bIns="0" rtlCol="0" anchor="t"/>
          <a:lstStyle/>
          <a:p>
            <a:pPr algn="ctr" indent="0" marL="0">
              <a:buNone/>
            </a:pPr>
            <a:r>
              <a:rPr lang="en-US" sz="1000" dirty="0">
                <a:solidFill>
                  <a:schemeClr val="tx1"/>
                </a:solidFill>
              </a:rPr>
              <a:t>Triste</a:t>
            </a:r>
            <a:endParaRPr lang="en-US" sz="1000" dirty="0"/>
          </a:p>
        </p:txBody>
      </p:sp>
      <p:sp>
        <p:nvSpPr>
          <p:cNvPr id="38" name="icon-bg-182"/>
          <p:cNvSpPr/>
          <p:nvPr/>
        </p:nvSpPr>
        <p:spPr>
          <a:xfrm>
            <a:off x="8019288" y="1600200"/>
            <a:ext cx="502920" cy="502920"/>
          </a:xfrm>
          <a:prstGeom prst="ellipse">
            <a:avLst/>
          </a:prstGeom>
          <a:solidFill>
            <a:srgbClr val="D45D4A"/>
          </a:solidFill>
          <a:ln/>
        </p:spPr>
      </p:sp>
      <p:pic>
        <p:nvPicPr>
          <p:cNvPr id="39" name="icon-183" descr="preencoded.png">    </p:cNvPr>
          <p:cNvPicPr>
            <a:picLocks noChangeAspect="1"/>
          </p:cNvPicPr>
          <p:nvPr/>
        </p:nvPicPr>
        <p:blipFill>
          <a:blip r:embed="rId8"/>
          <a:stretch>
            <a:fillRect/>
          </a:stretch>
        </p:blipFill>
        <p:spPr>
          <a:xfrm>
            <a:off x="8150047" y="1730959"/>
            <a:ext cx="241402" cy="241402"/>
          </a:xfrm>
          <a:prstGeom prst="rect">
            <a:avLst/>
          </a:prstGeom>
        </p:spPr>
      </p:pic>
      <p:sp>
        <p:nvSpPr>
          <p:cNvPr id="40" name="text-184"/>
          <p:cNvSpPr txBox="1"/>
          <p:nvPr/>
        </p:nvSpPr>
        <p:spPr>
          <a:xfrm>
            <a:off x="7964424" y="2194560"/>
            <a:ext cx="612648" cy="274320"/>
          </a:xfrm>
          <a:prstGeom prst="rect">
            <a:avLst/>
          </a:prstGeom>
          <a:noFill/>
          <a:ln/>
        </p:spPr>
        <p:txBody>
          <a:bodyPr wrap="square" lIns="0" tIns="0" rIns="0" bIns="0" rtlCol="0" anchor="t"/>
          <a:lstStyle/>
          <a:p>
            <a:pPr algn="ctr" indent="0" marL="0">
              <a:buNone/>
            </a:pPr>
            <a:r>
              <a:rPr lang="en-US" sz="1000" dirty="0">
                <a:solidFill>
                  <a:schemeClr val="tx1"/>
                </a:solidFill>
              </a:rPr>
              <a:t>Enojado</a:t>
            </a:r>
            <a:endParaRPr lang="en-US" sz="1000" dirty="0"/>
          </a:p>
        </p:txBody>
      </p:sp>
      <p:sp>
        <p:nvSpPr>
          <p:cNvPr id="41" name="text-185"/>
          <p:cNvSpPr txBox="1"/>
          <p:nvPr/>
        </p:nvSpPr>
        <p:spPr>
          <a:xfrm>
            <a:off x="6126480" y="3017520"/>
            <a:ext cx="256032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Máximo 4 opciones por pantalla</a:t>
            </a:r>
            <a:endParaRPr lang="en-US" sz="1400" dirty="0"/>
          </a:p>
          <a:p>
            <a:pPr marL="342900" indent="-342900">
              <a:spcAft>
                <a:spcPts val="800"/>
              </a:spcAft>
              <a:buSzPct val="100000"/>
              <a:buChar char="•"/>
            </a:pPr>
            <a:r>
              <a:rPr lang="en-US" sz="1400" dirty="0">
                <a:solidFill>
                  <a:schemeClr val="tx1"/>
                </a:solidFill>
              </a:rPr>
              <a:t>Botones grandes con imagen y sonido</a:t>
            </a:r>
            <a:endParaRPr lang="en-US" sz="1400" dirty="0"/>
          </a:p>
          <a:p>
            <a:pPr marL="342900" indent="-342900">
              <a:spcAft>
                <a:spcPts val="800"/>
              </a:spcAft>
              <a:buSzPct val="100000"/>
              <a:buChar char="•"/>
            </a:pPr>
            <a:r>
              <a:rPr lang="en-US" sz="1400" dirty="0">
                <a:solidFill>
                  <a:schemeClr val="tx1"/>
                </a:solidFill>
              </a:rPr>
              <a:t>Los niveles se desbloquean según su avance</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chemeClr val="tx2"/>
                </a:solidFill>
                <a:latin typeface="Bookman Old Style" pitchFamily="34" charset="0"/>
                <a:ea typeface="Bookman Old Style" pitchFamily="34" charset="-122"/>
                <a:cs typeface="Bookman Old Style" pitchFamily="34" charset="-120"/>
              </a:rPr>
              <a:t>Actividad: letras, sílabas y palabras</a:t>
            </a:r>
            <a:endParaRPr lang="en-US" sz="3000" dirty="0"/>
          </a:p>
        </p:txBody>
      </p:sp>
      <p:sp>
        <p:nvSpPr>
          <p:cNvPr id="3" name="mockup-frame-186"/>
          <p:cNvSpPr/>
          <p:nvPr/>
        </p:nvSpPr>
        <p:spPr>
          <a:xfrm>
            <a:off x="457200" y="1005840"/>
            <a:ext cx="4754880" cy="3611880"/>
          </a:xfrm>
          <a:prstGeom prst="roundRect">
            <a:avLst>
              <a:gd name="adj" fmla="val 2532"/>
            </a:avLst>
          </a:prstGeom>
          <a:solidFill>
            <a:schemeClr val="bg1"/>
          </a:solidFill>
          <a:ln w="12700">
            <a:solidFill>
              <a:srgbClr val="D3DCE3"/>
            </a:solidFill>
            <a:prstDash val="solid"/>
          </a:ln>
          <a:effectLst>
            <a:outerShdw sx="100000" sy="100000" kx="0" ky="0" algn="bl" rotWithShape="0" blurRad="76200" dist="25400" dir="5400000">
              <a:srgbClr val="1E2A36">
                <a:alpha val="12000"/>
              </a:srgbClr>
            </a:outerShdw>
          </a:effectLst>
        </p:spPr>
      </p:sp>
      <p:sp>
        <p:nvSpPr>
          <p:cNvPr id="4" name="mockup-bar-187"/>
          <p:cNvSpPr/>
          <p:nvPr/>
        </p:nvSpPr>
        <p:spPr>
          <a:xfrm>
            <a:off x="475488" y="1097280"/>
            <a:ext cx="4718304" cy="182880"/>
          </a:xfrm>
          <a:prstGeom prst="rect">
            <a:avLst/>
          </a:prstGeom>
          <a:solidFill>
            <a:schemeClr val="bg2"/>
          </a:solidFill>
          <a:ln/>
        </p:spPr>
      </p:sp>
      <p:sp>
        <p:nvSpPr>
          <p:cNvPr id="5" name="mockup-bar-188"/>
          <p:cNvSpPr/>
          <p:nvPr/>
        </p:nvSpPr>
        <p:spPr>
          <a:xfrm>
            <a:off x="475488" y="1024128"/>
            <a:ext cx="4718304" cy="182880"/>
          </a:xfrm>
          <a:prstGeom prst="roundRect">
            <a:avLst>
              <a:gd name="adj" fmla="val 40000"/>
            </a:avLst>
          </a:prstGeom>
          <a:solidFill>
            <a:schemeClr val="bg2"/>
          </a:solidFill>
          <a:ln/>
        </p:spPr>
      </p:sp>
      <p:sp>
        <p:nvSpPr>
          <p:cNvPr id="6" name="mockup-dot-189"/>
          <p:cNvSpPr/>
          <p:nvPr/>
        </p:nvSpPr>
        <p:spPr>
          <a:xfrm>
            <a:off x="594360" y="1097280"/>
            <a:ext cx="91440" cy="91440"/>
          </a:xfrm>
          <a:prstGeom prst="ellipse">
            <a:avLst/>
          </a:prstGeom>
          <a:solidFill>
            <a:srgbClr val="D45D4A"/>
          </a:solidFill>
          <a:ln/>
        </p:spPr>
      </p:sp>
      <p:sp>
        <p:nvSpPr>
          <p:cNvPr id="7" name="mockup-dot-190"/>
          <p:cNvSpPr/>
          <p:nvPr/>
        </p:nvSpPr>
        <p:spPr>
          <a:xfrm>
            <a:off x="740664" y="1097280"/>
            <a:ext cx="91440" cy="91440"/>
          </a:xfrm>
          <a:prstGeom prst="ellipse">
            <a:avLst/>
          </a:prstGeom>
          <a:solidFill>
            <a:srgbClr val="F2C14E"/>
          </a:solidFill>
          <a:ln/>
        </p:spPr>
      </p:sp>
      <p:sp>
        <p:nvSpPr>
          <p:cNvPr id="8" name="mockup-dot-191"/>
          <p:cNvSpPr/>
          <p:nvPr/>
        </p:nvSpPr>
        <p:spPr>
          <a:xfrm>
            <a:off x="886968" y="1097280"/>
            <a:ext cx="91440" cy="91440"/>
          </a:xfrm>
          <a:prstGeom prst="ellipse">
            <a:avLst/>
          </a:prstGeom>
          <a:solidFill>
            <a:srgbClr val="3E8E78"/>
          </a:solidFill>
          <a:ln/>
        </p:spPr>
      </p:sp>
      <p:sp>
        <p:nvSpPr>
          <p:cNvPr id="9" name="icon-bg-192"/>
          <p:cNvSpPr/>
          <p:nvPr/>
        </p:nvSpPr>
        <p:spPr>
          <a:xfrm>
            <a:off x="731520" y="1353312"/>
            <a:ext cx="411480" cy="411480"/>
          </a:xfrm>
          <a:prstGeom prst="ellipse">
            <a:avLst/>
          </a:prstGeom>
          <a:solidFill>
            <a:schemeClr val="accent4"/>
          </a:solidFill>
          <a:ln/>
        </p:spPr>
      </p:sp>
      <p:pic>
        <p:nvPicPr>
          <p:cNvPr id="10" name="icon-193" descr="preencoded.png">    </p:cNvPr>
          <p:cNvPicPr>
            <a:picLocks noChangeAspect="1"/>
          </p:cNvPicPr>
          <p:nvPr/>
        </p:nvPicPr>
        <p:blipFill>
          <a:blip r:embed="rId1"/>
          <a:stretch>
            <a:fillRect/>
          </a:stretch>
        </p:blipFill>
        <p:spPr>
          <a:xfrm>
            <a:off x="838505" y="1460297"/>
            <a:ext cx="197510" cy="197510"/>
          </a:xfrm>
          <a:prstGeom prst="rect">
            <a:avLst/>
          </a:prstGeom>
        </p:spPr>
      </p:pic>
      <p:sp>
        <p:nvSpPr>
          <p:cNvPr id="11" name="text-194"/>
          <p:cNvSpPr txBox="1"/>
          <p:nvPr/>
        </p:nvSpPr>
        <p:spPr>
          <a:xfrm>
            <a:off x="1234440" y="1353312"/>
            <a:ext cx="1828800" cy="411480"/>
          </a:xfrm>
          <a:prstGeom prst="rect">
            <a:avLst/>
          </a:prstGeom>
          <a:noFill/>
          <a:ln/>
        </p:spPr>
        <p:txBody>
          <a:bodyPr wrap="square" lIns="0" tIns="0" rIns="0" bIns="0" rtlCol="0" anchor="ctr"/>
          <a:lstStyle/>
          <a:p>
            <a:pPr indent="0" marL="0">
              <a:buNone/>
            </a:pPr>
            <a:r>
              <a:rPr lang="en-US" sz="1200" dirty="0">
                <a:solidFill>
                  <a:srgbClr val="5B6B7A"/>
                </a:solidFill>
              </a:rPr>
              <a:t>Escucha y repite</a:t>
            </a:r>
            <a:endParaRPr lang="en-US" sz="1200" dirty="0"/>
          </a:p>
        </p:txBody>
      </p:sp>
      <p:sp>
        <p:nvSpPr>
          <p:cNvPr id="12" name="tile-195"/>
          <p:cNvSpPr/>
          <p:nvPr/>
        </p:nvSpPr>
        <p:spPr>
          <a:xfrm>
            <a:off x="914400" y="1874520"/>
            <a:ext cx="914400" cy="914400"/>
          </a:xfrm>
          <a:prstGeom prst="roundRect">
            <a:avLst>
              <a:gd name="adj" fmla="val 12000"/>
            </a:avLst>
          </a:prstGeom>
          <a:solidFill>
            <a:schemeClr val="accent3"/>
          </a:solidFill>
          <a:ln/>
        </p:spPr>
        <p:txBody>
          <a:bodyPr wrap="square" lIns="0" tIns="0" rIns="0" bIns="0" rtlCol="0" anchor="ctr"/>
          <a:lstStyle/>
          <a:p>
            <a:pPr algn="ctr" indent="0" marL="0">
              <a:buNone/>
            </a:pPr>
            <a:r>
              <a:rPr lang="en-US" sz="4000" b="1" dirty="0">
                <a:solidFill>
                  <a:schemeClr val="bg1"/>
                </a:solidFill>
                <a:latin typeface="Arial" pitchFamily="34" charset="0"/>
                <a:ea typeface="Arial" pitchFamily="34" charset="-122"/>
                <a:cs typeface="Arial" pitchFamily="34" charset="-120"/>
              </a:rPr>
              <a:t>M</a:t>
            </a:r>
            <a:endParaRPr lang="en-US" sz="4000" dirty="0"/>
          </a:p>
        </p:txBody>
      </p:sp>
      <p:sp>
        <p:nvSpPr>
          <p:cNvPr id="13" name="text-196"/>
          <p:cNvSpPr txBox="1"/>
          <p:nvPr/>
        </p:nvSpPr>
        <p:spPr>
          <a:xfrm>
            <a:off x="1828800" y="1874520"/>
            <a:ext cx="457200" cy="914400"/>
          </a:xfrm>
          <a:prstGeom prst="rect">
            <a:avLst/>
          </a:prstGeom>
          <a:noFill/>
          <a:ln/>
        </p:spPr>
        <p:txBody>
          <a:bodyPr wrap="square" lIns="0" tIns="0" rIns="0" bIns="0" rtlCol="0" anchor="ctr"/>
          <a:lstStyle/>
          <a:p>
            <a:pPr algn="ctr" indent="0" marL="0">
              <a:buNone/>
            </a:pPr>
            <a:r>
              <a:rPr lang="en-US" sz="2800" b="1" dirty="0">
                <a:solidFill>
                  <a:srgbClr val="5B6B7A"/>
                </a:solidFill>
              </a:rPr>
              <a:t>+</a:t>
            </a:r>
            <a:endParaRPr lang="en-US" sz="2800" dirty="0"/>
          </a:p>
        </p:txBody>
      </p:sp>
      <p:sp>
        <p:nvSpPr>
          <p:cNvPr id="14" name="tile-197"/>
          <p:cNvSpPr/>
          <p:nvPr/>
        </p:nvSpPr>
        <p:spPr>
          <a:xfrm>
            <a:off x="2286000" y="1874520"/>
            <a:ext cx="914400" cy="914400"/>
          </a:xfrm>
          <a:prstGeom prst="roundRect">
            <a:avLst>
              <a:gd name="adj" fmla="val 12000"/>
            </a:avLst>
          </a:prstGeom>
          <a:solidFill>
            <a:schemeClr val="accent2"/>
          </a:solidFill>
          <a:ln/>
        </p:spPr>
        <p:txBody>
          <a:bodyPr wrap="square" lIns="0" tIns="0" rIns="0" bIns="0" rtlCol="0" anchor="ctr"/>
          <a:lstStyle/>
          <a:p>
            <a:pPr algn="ctr" indent="0" marL="0">
              <a:buNone/>
            </a:pPr>
            <a:r>
              <a:rPr lang="en-US" sz="4000" b="1" dirty="0">
                <a:solidFill>
                  <a:schemeClr val="bg1"/>
                </a:solidFill>
                <a:latin typeface="Arial" pitchFamily="34" charset="0"/>
                <a:ea typeface="Arial" pitchFamily="34" charset="-122"/>
                <a:cs typeface="Arial" pitchFamily="34" charset="-120"/>
              </a:rPr>
              <a:t>A</a:t>
            </a:r>
            <a:endParaRPr lang="en-US" sz="4000" dirty="0"/>
          </a:p>
        </p:txBody>
      </p:sp>
      <p:sp>
        <p:nvSpPr>
          <p:cNvPr id="15" name="text-198"/>
          <p:cNvSpPr txBox="1"/>
          <p:nvPr/>
        </p:nvSpPr>
        <p:spPr>
          <a:xfrm>
            <a:off x="3200400" y="1874520"/>
            <a:ext cx="457200" cy="914400"/>
          </a:xfrm>
          <a:prstGeom prst="rect">
            <a:avLst/>
          </a:prstGeom>
          <a:noFill/>
          <a:ln/>
        </p:spPr>
        <p:txBody>
          <a:bodyPr wrap="square" lIns="0" tIns="0" rIns="0" bIns="0" rtlCol="0" anchor="ctr"/>
          <a:lstStyle/>
          <a:p>
            <a:pPr algn="ctr" indent="0" marL="0">
              <a:buNone/>
            </a:pPr>
            <a:r>
              <a:rPr lang="en-US" sz="2800" b="1" dirty="0">
                <a:solidFill>
                  <a:srgbClr val="5B6B7A"/>
                </a:solidFill>
              </a:rPr>
              <a:t>=</a:t>
            </a:r>
            <a:endParaRPr lang="en-US" sz="2800" dirty="0"/>
          </a:p>
        </p:txBody>
      </p:sp>
      <p:sp>
        <p:nvSpPr>
          <p:cNvPr id="16" name="tile-199"/>
          <p:cNvSpPr/>
          <p:nvPr/>
        </p:nvSpPr>
        <p:spPr>
          <a:xfrm>
            <a:off x="3657600" y="1874520"/>
            <a:ext cx="1280160" cy="914400"/>
          </a:xfrm>
          <a:prstGeom prst="roundRect">
            <a:avLst>
              <a:gd name="adj" fmla="val 12000"/>
            </a:avLst>
          </a:prstGeom>
          <a:solidFill>
            <a:schemeClr val="accent6"/>
          </a:solidFill>
          <a:ln/>
        </p:spPr>
        <p:txBody>
          <a:bodyPr wrap="square" lIns="0" tIns="0" rIns="0" bIns="0" rtlCol="0" anchor="ctr"/>
          <a:lstStyle/>
          <a:p>
            <a:pPr algn="ctr" indent="0" marL="0">
              <a:buNone/>
            </a:pPr>
            <a:r>
              <a:rPr lang="en-US" sz="4000" b="1" dirty="0">
                <a:solidFill>
                  <a:schemeClr val="tx1"/>
                </a:solidFill>
                <a:latin typeface="Arial" pitchFamily="34" charset="0"/>
                <a:ea typeface="Arial" pitchFamily="34" charset="-122"/>
                <a:cs typeface="Arial" pitchFamily="34" charset="-120"/>
              </a:rPr>
              <a:t>MA</a:t>
            </a:r>
            <a:endParaRPr lang="en-US" sz="4000" dirty="0"/>
          </a:p>
        </p:txBody>
      </p:sp>
      <p:pic>
        <p:nvPicPr>
          <p:cNvPr id="17" name="sound" descr="preencoded.png">    </p:cNvPr>
          <p:cNvPicPr>
            <a:picLocks noChangeAspect="1"/>
          </p:cNvPicPr>
          <p:nvPr/>
        </p:nvPicPr>
        <p:blipFill>
          <a:blip r:embed="rId2"/>
          <a:stretch>
            <a:fillRect/>
          </a:stretch>
        </p:blipFill>
        <p:spPr>
          <a:xfrm>
            <a:off x="3730752" y="2944368"/>
            <a:ext cx="228600" cy="228600"/>
          </a:xfrm>
          <a:prstGeom prst="rect">
            <a:avLst/>
          </a:prstGeom>
        </p:spPr>
      </p:pic>
      <p:sp>
        <p:nvSpPr>
          <p:cNvPr id="18" name="text-200"/>
          <p:cNvSpPr txBox="1"/>
          <p:nvPr/>
        </p:nvSpPr>
        <p:spPr>
          <a:xfrm>
            <a:off x="4005072" y="2880360"/>
            <a:ext cx="1097280" cy="365760"/>
          </a:xfrm>
          <a:prstGeom prst="rect">
            <a:avLst/>
          </a:prstGeom>
          <a:noFill/>
          <a:ln/>
        </p:spPr>
        <p:txBody>
          <a:bodyPr wrap="square" lIns="0" tIns="0" rIns="0" bIns="0" rtlCol="0" anchor="ctr"/>
          <a:lstStyle/>
          <a:p>
            <a:pPr indent="0" marL="0">
              <a:buNone/>
            </a:pPr>
            <a:r>
              <a:rPr lang="en-US" sz="1400" b="1" i="1" dirty="0">
                <a:solidFill>
                  <a:schemeClr val="accent4"/>
                </a:solidFill>
              </a:rPr>
              <a:t>«mmmaaa»</a:t>
            </a:r>
            <a:endParaRPr lang="en-US" sz="1400" dirty="0"/>
          </a:p>
        </p:txBody>
      </p:sp>
      <p:sp>
        <p:nvSpPr>
          <p:cNvPr id="19" name="tile-201"/>
          <p:cNvSpPr/>
          <p:nvPr/>
        </p:nvSpPr>
        <p:spPr>
          <a:xfrm>
            <a:off x="914400" y="3520440"/>
            <a:ext cx="731520" cy="548640"/>
          </a:xfrm>
          <a:prstGeom prst="roundRect">
            <a:avLst>
              <a:gd name="adj" fmla="val 20000"/>
            </a:avLst>
          </a:prstGeom>
          <a:solidFill>
            <a:schemeClr val="tx2"/>
          </a:solid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MA</a:t>
            </a:r>
            <a:endParaRPr lang="en-US" sz="1800" dirty="0"/>
          </a:p>
        </p:txBody>
      </p:sp>
      <p:sp>
        <p:nvSpPr>
          <p:cNvPr id="20" name="tile-202"/>
          <p:cNvSpPr/>
          <p:nvPr/>
        </p:nvSpPr>
        <p:spPr>
          <a:xfrm>
            <a:off x="1737360" y="3520440"/>
            <a:ext cx="731520" cy="548640"/>
          </a:xfrm>
          <a:prstGeom prst="roundRect">
            <a:avLst>
              <a:gd name="adj" fmla="val 20000"/>
            </a:avLst>
          </a:prstGeom>
          <a:solidFill>
            <a:schemeClr val="tx2"/>
          </a:solid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MÁ</a:t>
            </a:r>
            <a:endParaRPr lang="en-US" sz="1800" dirty="0"/>
          </a:p>
        </p:txBody>
      </p:sp>
      <p:pic>
        <p:nvPicPr>
          <p:cNvPr id="21" name="arrow" descr="preencoded.png">    </p:cNvPr>
          <p:cNvPicPr>
            <a:picLocks noChangeAspect="1"/>
          </p:cNvPicPr>
          <p:nvPr/>
        </p:nvPicPr>
        <p:blipFill>
          <a:blip r:embed="rId3"/>
          <a:stretch>
            <a:fillRect/>
          </a:stretch>
        </p:blipFill>
        <p:spPr>
          <a:xfrm>
            <a:off x="2606040" y="3675888"/>
            <a:ext cx="228600" cy="228600"/>
          </a:xfrm>
          <a:prstGeom prst="rect">
            <a:avLst/>
          </a:prstGeom>
        </p:spPr>
      </p:pic>
      <p:sp>
        <p:nvSpPr>
          <p:cNvPr id="22" name="text-203"/>
          <p:cNvSpPr txBox="1"/>
          <p:nvPr/>
        </p:nvSpPr>
        <p:spPr>
          <a:xfrm>
            <a:off x="2926080" y="3520440"/>
            <a:ext cx="1097280" cy="54864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MAMÁ</a:t>
            </a:r>
            <a:endParaRPr lang="en-US" sz="2200" dirty="0"/>
          </a:p>
        </p:txBody>
      </p:sp>
      <p:sp>
        <p:nvSpPr>
          <p:cNvPr id="23" name="card-204"/>
          <p:cNvSpPr/>
          <p:nvPr/>
        </p:nvSpPr>
        <p:spPr>
          <a:xfrm>
            <a:off x="4114800" y="3429000"/>
            <a:ext cx="822960" cy="777240"/>
          </a:xfrm>
          <a:prstGeom prst="roundRect">
            <a:avLst>
              <a:gd name="adj" fmla="val 14118"/>
            </a:avLst>
          </a:prstGeom>
          <a:solidFill>
            <a:schemeClr val="bg2"/>
          </a:solidFill>
          <a:ln w="12700">
            <a:solidFill>
              <a:srgbClr val="D3DCE3"/>
            </a:solidFill>
            <a:prstDash val="solid"/>
          </a:ln>
        </p:spPr>
      </p:sp>
      <p:pic>
        <p:nvPicPr>
          <p:cNvPr id="24" name="pictogram" descr="preencoded.png">    </p:cNvPr>
          <p:cNvPicPr>
            <a:picLocks noChangeAspect="1"/>
          </p:cNvPicPr>
          <p:nvPr/>
        </p:nvPicPr>
        <p:blipFill>
          <a:blip r:embed="rId4"/>
          <a:stretch>
            <a:fillRect/>
          </a:stretch>
        </p:blipFill>
        <p:spPr>
          <a:xfrm>
            <a:off x="4297680" y="3566160"/>
            <a:ext cx="457200" cy="457200"/>
          </a:xfrm>
          <a:prstGeom prst="rect">
            <a:avLst/>
          </a:prstGeom>
        </p:spPr>
      </p:pic>
      <p:sp>
        <p:nvSpPr>
          <p:cNvPr id="25" name="text-205"/>
          <p:cNvSpPr txBox="1"/>
          <p:nvPr/>
        </p:nvSpPr>
        <p:spPr>
          <a:xfrm>
            <a:off x="5486400" y="114300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6" name="text-206"/>
          <p:cNvSpPr txBox="1"/>
          <p:nvPr/>
        </p:nvSpPr>
        <p:spPr>
          <a:xfrm>
            <a:off x="6035040" y="1097280"/>
            <a:ext cx="2651760" cy="731520"/>
          </a:xfrm>
          <a:prstGeom prst="rect">
            <a:avLst/>
          </a:prstGeom>
          <a:noFill/>
          <a:ln/>
        </p:spPr>
        <p:txBody>
          <a:bodyPr wrap="square" lIns="0" tIns="0" rIns="0" bIns="0" rtlCol="0" anchor="t"/>
          <a:lstStyle/>
          <a:p>
            <a:pPr indent="0" marL="0">
              <a:buNone/>
            </a:pPr>
            <a:r>
              <a:rPr lang="en-US" sz="1400" dirty="0">
                <a:solidFill>
                  <a:schemeClr val="tx1"/>
                </a:solidFill>
              </a:rPr>
              <a:t>Escucha el sonido de cada letra, no su nombre.</a:t>
            </a:r>
            <a:endParaRPr lang="en-US" sz="1400" dirty="0"/>
          </a:p>
        </p:txBody>
      </p:sp>
      <p:sp>
        <p:nvSpPr>
          <p:cNvPr id="27" name="text-207"/>
          <p:cNvSpPr txBox="1"/>
          <p:nvPr/>
        </p:nvSpPr>
        <p:spPr>
          <a:xfrm>
            <a:off x="5486400" y="201168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8" name="text-208"/>
          <p:cNvSpPr txBox="1"/>
          <p:nvPr/>
        </p:nvSpPr>
        <p:spPr>
          <a:xfrm>
            <a:off x="6035040" y="1965960"/>
            <a:ext cx="2651760" cy="731520"/>
          </a:xfrm>
          <a:prstGeom prst="rect">
            <a:avLst/>
          </a:prstGeom>
          <a:noFill/>
          <a:ln/>
        </p:spPr>
        <p:txBody>
          <a:bodyPr wrap="square" lIns="0" tIns="0" rIns="0" bIns="0" rtlCol="0" anchor="t"/>
          <a:lstStyle/>
          <a:p>
            <a:pPr indent="0" marL="0">
              <a:buNone/>
            </a:pPr>
            <a:r>
              <a:rPr lang="en-US" sz="1400" dirty="0">
                <a:solidFill>
                  <a:schemeClr val="tx1"/>
                </a:solidFill>
              </a:rPr>
              <a:t>Ve cómo los sonidos se unen en una sílaba.</a:t>
            </a:r>
            <a:endParaRPr lang="en-US" sz="1400" dirty="0"/>
          </a:p>
        </p:txBody>
      </p:sp>
      <p:sp>
        <p:nvSpPr>
          <p:cNvPr id="29" name="text-209"/>
          <p:cNvSpPr txBox="1"/>
          <p:nvPr/>
        </p:nvSpPr>
        <p:spPr>
          <a:xfrm>
            <a:off x="5486400" y="288036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0" name="text-210"/>
          <p:cNvSpPr txBox="1"/>
          <p:nvPr/>
        </p:nvSpPr>
        <p:spPr>
          <a:xfrm>
            <a:off x="6035040" y="2834640"/>
            <a:ext cx="2651760" cy="731520"/>
          </a:xfrm>
          <a:prstGeom prst="rect">
            <a:avLst/>
          </a:prstGeom>
          <a:noFill/>
          <a:ln/>
        </p:spPr>
        <p:txBody>
          <a:bodyPr wrap="square" lIns="0" tIns="0" rIns="0" bIns="0" rtlCol="0" anchor="t"/>
          <a:lstStyle/>
          <a:p>
            <a:pPr indent="0" marL="0">
              <a:buNone/>
            </a:pPr>
            <a:r>
              <a:rPr lang="en-US" sz="1400" dirty="0">
                <a:solidFill>
                  <a:schemeClr val="tx1"/>
                </a:solidFill>
              </a:rPr>
              <a:t>Forma palabras y las une con su imagen o pictograma.</a:t>
            </a:r>
            <a:endParaRPr lang="en-US" sz="1400" dirty="0"/>
          </a:p>
        </p:txBody>
      </p:sp>
      <p:sp>
        <p:nvSpPr>
          <p:cNvPr id="31" name="text-211"/>
          <p:cNvSpPr txBox="1"/>
          <p:nvPr/>
        </p:nvSpPr>
        <p:spPr>
          <a:xfrm>
            <a:off x="5486400" y="374904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2" name="text-212"/>
          <p:cNvSpPr txBox="1"/>
          <p:nvPr/>
        </p:nvSpPr>
        <p:spPr>
          <a:xfrm>
            <a:off x="6035040" y="3703320"/>
            <a:ext cx="2651760" cy="731520"/>
          </a:xfrm>
          <a:prstGeom prst="rect">
            <a:avLst/>
          </a:prstGeom>
          <a:noFill/>
          <a:ln/>
        </p:spPr>
        <p:txBody>
          <a:bodyPr wrap="square" lIns="0" tIns="0" rIns="0" bIns="0" rtlCol="0" anchor="t"/>
          <a:lstStyle/>
          <a:p>
            <a:pPr indent="0" marL="0">
              <a:buNone/>
            </a:pPr>
            <a:r>
              <a:rPr lang="en-US" sz="1400" dirty="0">
                <a:solidFill>
                  <a:schemeClr val="tx1"/>
                </a:solidFill>
              </a:rPr>
              <a:t>Avanza en orden: vocales, consonantes, sílabas y palabras.</a:t>
            </a:r>
            <a:endParaRPr lang="en-US" sz="14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chemeClr val="tx2"/>
                </a:solidFill>
                <a:latin typeface="Bookman Old Style" pitchFamily="34" charset="0"/>
                <a:ea typeface="Bookman Old Style" pitchFamily="34" charset="-122"/>
                <a:cs typeface="Bookman Old Style" pitchFamily="34" charset="-120"/>
              </a:rPr>
              <a:t>Actividades: cuentos y canciones</a:t>
            </a:r>
            <a:endParaRPr lang="en-US" sz="3000" dirty="0"/>
          </a:p>
        </p:txBody>
      </p:sp>
      <p:sp>
        <p:nvSpPr>
          <p:cNvPr id="3" name="card-213"/>
          <p:cNvSpPr/>
          <p:nvPr/>
        </p:nvSpPr>
        <p:spPr>
          <a:xfrm>
            <a:off x="457200" y="1051560"/>
            <a:ext cx="4023360" cy="2468880"/>
          </a:xfrm>
          <a:prstGeom prst="roundRect">
            <a:avLst>
              <a:gd name="adj" fmla="val 4444"/>
            </a:avLst>
          </a:prstGeom>
          <a:solidFill>
            <a:schemeClr val="bg2"/>
          </a:solidFill>
          <a:ln/>
        </p:spPr>
      </p:sp>
      <p:sp>
        <p:nvSpPr>
          <p:cNvPr id="4" name="icon-bg-214"/>
          <p:cNvSpPr/>
          <p:nvPr/>
        </p:nvSpPr>
        <p:spPr>
          <a:xfrm>
            <a:off x="731520" y="1234440"/>
            <a:ext cx="548640" cy="548640"/>
          </a:xfrm>
          <a:prstGeom prst="ellipse">
            <a:avLst/>
          </a:prstGeom>
          <a:solidFill>
            <a:schemeClr val="accent4"/>
          </a:solidFill>
          <a:ln/>
        </p:spPr>
      </p:sp>
      <p:pic>
        <p:nvPicPr>
          <p:cNvPr id="5" name="icon-215" descr="preencoded.png">    </p:cNvPr>
          <p:cNvPicPr>
            <a:picLocks noChangeAspect="1"/>
          </p:cNvPicPr>
          <p:nvPr/>
        </p:nvPicPr>
        <p:blipFill>
          <a:blip r:embed="rId1"/>
          <a:stretch>
            <a:fillRect/>
          </a:stretch>
        </p:blipFill>
        <p:spPr>
          <a:xfrm>
            <a:off x="874166" y="1377086"/>
            <a:ext cx="263347" cy="263347"/>
          </a:xfrm>
          <a:prstGeom prst="rect">
            <a:avLst/>
          </a:prstGeom>
        </p:spPr>
      </p:pic>
      <p:sp>
        <p:nvSpPr>
          <p:cNvPr id="6" name="text-216"/>
          <p:cNvSpPr txBox="1"/>
          <p:nvPr/>
        </p:nvSpPr>
        <p:spPr>
          <a:xfrm>
            <a:off x="1463040" y="1234440"/>
            <a:ext cx="2743200" cy="548640"/>
          </a:xfrm>
          <a:prstGeom prst="rect">
            <a:avLst/>
          </a:prstGeom>
          <a:noFill/>
          <a:ln/>
        </p:spPr>
        <p:txBody>
          <a:bodyPr wrap="square" lIns="0" tIns="0" rIns="0" bIns="0" rtlCol="0" anchor="ctr"/>
          <a:lstStyle/>
          <a:p>
            <a:pPr indent="0" marL="0">
              <a:buNone/>
            </a:pPr>
            <a:r>
              <a:rPr lang="en-US" sz="1800" b="1" dirty="0">
                <a:solidFill>
                  <a:schemeClr val="tx2"/>
                </a:solidFill>
              </a:rPr>
              <a:t>Cuentos</a:t>
            </a:r>
            <a:endParaRPr lang="en-US" sz="1800" dirty="0"/>
          </a:p>
        </p:txBody>
      </p:sp>
      <p:sp>
        <p:nvSpPr>
          <p:cNvPr id="7" name="text-217"/>
          <p:cNvSpPr txBox="1"/>
          <p:nvPr/>
        </p:nvSpPr>
        <p:spPr>
          <a:xfrm>
            <a:off x="731520" y="1965960"/>
            <a:ext cx="352044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Historias narradas con voz, con una trama simple y temas que les gustan</a:t>
            </a:r>
            <a:endParaRPr lang="en-US" sz="1400" dirty="0"/>
          </a:p>
          <a:p>
            <a:pPr marL="342900" indent="-342900">
              <a:spcAft>
                <a:spcPts val="600"/>
              </a:spcAft>
              <a:buSzPct val="100000"/>
              <a:buChar char="•"/>
            </a:pPr>
            <a:r>
              <a:rPr lang="en-US" sz="1400" dirty="0">
                <a:solidFill>
                  <a:schemeClr val="tx1"/>
                </a:solidFill>
              </a:rPr>
              <a:t>Cada parte del relato se apoya con pictogramas</a:t>
            </a:r>
            <a:endParaRPr lang="en-US" sz="1400" dirty="0"/>
          </a:p>
          <a:p>
            <a:pPr marL="342900" indent="-342900">
              <a:spcAft>
                <a:spcPts val="600"/>
              </a:spcAft>
              <a:buSzPct val="100000"/>
              <a:buChar char="•"/>
            </a:pPr>
            <a:r>
              <a:rPr lang="en-US" sz="1400" dirty="0">
                <a:solidFill>
                  <a:schemeClr val="tx1"/>
                </a:solidFill>
              </a:rPr>
              <a:t>Preguntas que se responden tocando imágenes</a:t>
            </a:r>
            <a:endParaRPr lang="en-US" sz="1400" dirty="0"/>
          </a:p>
        </p:txBody>
      </p:sp>
      <p:sp>
        <p:nvSpPr>
          <p:cNvPr id="8" name="card-218"/>
          <p:cNvSpPr/>
          <p:nvPr/>
        </p:nvSpPr>
        <p:spPr>
          <a:xfrm>
            <a:off x="4663440" y="1051560"/>
            <a:ext cx="4023360" cy="2468880"/>
          </a:xfrm>
          <a:prstGeom prst="roundRect">
            <a:avLst>
              <a:gd name="adj" fmla="val 4444"/>
            </a:avLst>
          </a:prstGeom>
          <a:solidFill>
            <a:schemeClr val="bg2"/>
          </a:solidFill>
          <a:ln/>
        </p:spPr>
      </p:sp>
      <p:sp>
        <p:nvSpPr>
          <p:cNvPr id="9" name="icon-bg-219"/>
          <p:cNvSpPr/>
          <p:nvPr/>
        </p:nvSpPr>
        <p:spPr>
          <a:xfrm>
            <a:off x="4937760" y="1234440"/>
            <a:ext cx="548640" cy="548640"/>
          </a:xfrm>
          <a:prstGeom prst="ellipse">
            <a:avLst/>
          </a:prstGeom>
          <a:solidFill>
            <a:schemeClr val="accent5"/>
          </a:solidFill>
          <a:ln/>
        </p:spPr>
      </p:sp>
      <p:pic>
        <p:nvPicPr>
          <p:cNvPr id="10" name="icon-220" descr="preencoded.png">    </p:cNvPr>
          <p:cNvPicPr>
            <a:picLocks noChangeAspect="1"/>
          </p:cNvPicPr>
          <p:nvPr/>
        </p:nvPicPr>
        <p:blipFill>
          <a:blip r:embed="rId2"/>
          <a:stretch>
            <a:fillRect/>
          </a:stretch>
        </p:blipFill>
        <p:spPr>
          <a:xfrm>
            <a:off x="5080406" y="1377086"/>
            <a:ext cx="263347" cy="263347"/>
          </a:xfrm>
          <a:prstGeom prst="rect">
            <a:avLst/>
          </a:prstGeom>
        </p:spPr>
      </p:pic>
      <p:sp>
        <p:nvSpPr>
          <p:cNvPr id="11" name="text-221"/>
          <p:cNvSpPr txBox="1"/>
          <p:nvPr/>
        </p:nvSpPr>
        <p:spPr>
          <a:xfrm>
            <a:off x="5669280" y="1234440"/>
            <a:ext cx="2743200" cy="548640"/>
          </a:xfrm>
          <a:prstGeom prst="rect">
            <a:avLst/>
          </a:prstGeom>
          <a:noFill/>
          <a:ln/>
        </p:spPr>
        <p:txBody>
          <a:bodyPr wrap="square" lIns="0" tIns="0" rIns="0" bIns="0" rtlCol="0" anchor="ctr"/>
          <a:lstStyle/>
          <a:p>
            <a:pPr indent="0" marL="0">
              <a:buNone/>
            </a:pPr>
            <a:r>
              <a:rPr lang="en-US" sz="1800" b="1" dirty="0">
                <a:solidFill>
                  <a:schemeClr val="tx2"/>
                </a:solidFill>
              </a:rPr>
              <a:t>Canciones y rimas</a:t>
            </a:r>
            <a:endParaRPr lang="en-US" sz="1800" dirty="0"/>
          </a:p>
        </p:txBody>
      </p:sp>
      <p:sp>
        <p:nvSpPr>
          <p:cNvPr id="12" name="text-222"/>
          <p:cNvSpPr txBox="1"/>
          <p:nvPr/>
        </p:nvSpPr>
        <p:spPr>
          <a:xfrm>
            <a:off x="4937760" y="1965960"/>
            <a:ext cx="352044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Una canción para cada vocal</a:t>
            </a:r>
            <a:endParaRPr lang="en-US" sz="1400" dirty="0"/>
          </a:p>
          <a:p>
            <a:pPr marL="342900" indent="-342900">
              <a:spcAft>
                <a:spcPts val="600"/>
              </a:spcAft>
              <a:buSzPct val="100000"/>
              <a:buChar char="•"/>
            </a:pPr>
            <a:r>
              <a:rPr lang="en-US" sz="1400" dirty="0">
                <a:solidFill>
                  <a:schemeClr val="tx1"/>
                </a:solidFill>
              </a:rPr>
              <a:t>Rimas cortas que refuerzan sonidos y sílabas</a:t>
            </a:r>
            <a:endParaRPr lang="en-US" sz="1400" dirty="0"/>
          </a:p>
          <a:p>
            <a:pPr marL="342900" indent="-342900">
              <a:spcAft>
                <a:spcPts val="600"/>
              </a:spcAft>
              <a:buSzPct val="100000"/>
              <a:buChar char="•"/>
            </a:pPr>
            <a:r>
              <a:rPr lang="en-US" sz="1400" dirty="0">
                <a:solidFill>
                  <a:schemeClr val="tx1"/>
                </a:solidFill>
              </a:rPr>
              <a:t>Palmadas visuales para contar las sílabas de cada palabra</a:t>
            </a:r>
            <a:endParaRPr lang="en-US" sz="1400" dirty="0"/>
          </a:p>
        </p:txBody>
      </p:sp>
      <p:sp>
        <p:nvSpPr>
          <p:cNvPr id="13" name="text-223"/>
          <p:cNvSpPr txBox="1"/>
          <p:nvPr/>
        </p:nvSpPr>
        <p:spPr>
          <a:xfrm>
            <a:off x="457200" y="3657600"/>
            <a:ext cx="8229600" cy="274320"/>
          </a:xfrm>
          <a:prstGeom prst="rect">
            <a:avLst/>
          </a:prstGeom>
          <a:noFill/>
          <a:ln/>
        </p:spPr>
        <p:txBody>
          <a:bodyPr wrap="square" lIns="0" tIns="0" rIns="0" bIns="0" rtlCol="0" anchor="t"/>
          <a:lstStyle/>
          <a:p>
            <a:pPr indent="0" marL="0">
              <a:buNone/>
            </a:pPr>
            <a:r>
              <a:rPr lang="en-US" sz="1300" b="1" dirty="0">
                <a:solidFill>
                  <a:srgbClr val="5B6B7A"/>
                </a:solidFill>
              </a:rPr>
              <a:t>En todas las actividades</a:t>
            </a:r>
            <a:endParaRPr lang="en-US" sz="1300" dirty="0"/>
          </a:p>
        </p:txBody>
      </p:sp>
      <p:sp>
        <p:nvSpPr>
          <p:cNvPr id="14" name="card-224"/>
          <p:cNvSpPr/>
          <p:nvPr/>
        </p:nvSpPr>
        <p:spPr>
          <a:xfrm>
            <a:off x="457200" y="3977640"/>
            <a:ext cx="2651760" cy="621792"/>
          </a:xfrm>
          <a:prstGeom prst="roundRect">
            <a:avLst>
              <a:gd name="adj" fmla="val 17647"/>
            </a:avLst>
          </a:prstGeom>
          <a:solidFill>
            <a:schemeClr val="bg1"/>
          </a:solidFill>
          <a:ln w="12700">
            <a:solidFill>
              <a:srgbClr val="D3DCE3"/>
            </a:solidFill>
            <a:prstDash val="solid"/>
          </a:ln>
        </p:spPr>
      </p:sp>
      <p:sp>
        <p:nvSpPr>
          <p:cNvPr id="15" name="icon-bg-225"/>
          <p:cNvSpPr/>
          <p:nvPr/>
        </p:nvSpPr>
        <p:spPr>
          <a:xfrm>
            <a:off x="594360" y="4087368"/>
            <a:ext cx="402336" cy="402336"/>
          </a:xfrm>
          <a:prstGeom prst="ellipse">
            <a:avLst/>
          </a:prstGeom>
          <a:solidFill>
            <a:schemeClr val="accent2"/>
          </a:solidFill>
          <a:ln/>
        </p:spPr>
      </p:sp>
      <p:pic>
        <p:nvPicPr>
          <p:cNvPr id="16" name="icon-226" descr="preencoded.png">    </p:cNvPr>
          <p:cNvPicPr>
            <a:picLocks noChangeAspect="1"/>
          </p:cNvPicPr>
          <p:nvPr/>
        </p:nvPicPr>
        <p:blipFill>
          <a:blip r:embed="rId3"/>
          <a:stretch>
            <a:fillRect/>
          </a:stretch>
        </p:blipFill>
        <p:spPr>
          <a:xfrm>
            <a:off x="698967" y="4191975"/>
            <a:ext cx="193121" cy="193121"/>
          </a:xfrm>
          <a:prstGeom prst="rect">
            <a:avLst/>
          </a:prstGeom>
        </p:spPr>
      </p:pic>
      <p:sp>
        <p:nvSpPr>
          <p:cNvPr id="17" name="text-227"/>
          <p:cNvSpPr txBox="1"/>
          <p:nvPr/>
        </p:nvSpPr>
        <p:spPr>
          <a:xfrm>
            <a:off x="1097280" y="3977640"/>
            <a:ext cx="1920240" cy="621792"/>
          </a:xfrm>
          <a:prstGeom prst="rect">
            <a:avLst/>
          </a:prstGeom>
          <a:noFill/>
          <a:ln/>
        </p:spPr>
        <p:txBody>
          <a:bodyPr wrap="square" lIns="0" tIns="0" rIns="0" bIns="0" rtlCol="0" anchor="ctr"/>
          <a:lstStyle/>
          <a:p>
            <a:pPr indent="0" marL="0">
              <a:buNone/>
            </a:pPr>
            <a:r>
              <a:rPr lang="en-US" sz="1300" dirty="0">
                <a:solidFill>
                  <a:schemeClr val="tx1"/>
                </a:solidFill>
              </a:rPr>
              <a:t>Instrucción narrada y repetible</a:t>
            </a:r>
            <a:endParaRPr lang="en-US" sz="1300" dirty="0"/>
          </a:p>
        </p:txBody>
      </p:sp>
      <p:sp>
        <p:nvSpPr>
          <p:cNvPr id="18" name="card-228"/>
          <p:cNvSpPr/>
          <p:nvPr/>
        </p:nvSpPr>
        <p:spPr>
          <a:xfrm>
            <a:off x="3246120" y="3977640"/>
            <a:ext cx="2651760" cy="621792"/>
          </a:xfrm>
          <a:prstGeom prst="roundRect">
            <a:avLst>
              <a:gd name="adj" fmla="val 17647"/>
            </a:avLst>
          </a:prstGeom>
          <a:solidFill>
            <a:schemeClr val="bg1"/>
          </a:solidFill>
          <a:ln w="12700">
            <a:solidFill>
              <a:srgbClr val="D3DCE3"/>
            </a:solidFill>
            <a:prstDash val="solid"/>
          </a:ln>
        </p:spPr>
      </p:sp>
      <p:sp>
        <p:nvSpPr>
          <p:cNvPr id="19" name="icon-bg-229"/>
          <p:cNvSpPr/>
          <p:nvPr/>
        </p:nvSpPr>
        <p:spPr>
          <a:xfrm>
            <a:off x="3383280" y="4087368"/>
            <a:ext cx="402336" cy="402336"/>
          </a:xfrm>
          <a:prstGeom prst="ellipse">
            <a:avLst/>
          </a:prstGeom>
          <a:solidFill>
            <a:schemeClr val="accent1"/>
          </a:solidFill>
          <a:ln/>
        </p:spPr>
      </p:sp>
      <p:pic>
        <p:nvPicPr>
          <p:cNvPr id="20" name="icon-230" descr="preencoded.png">    </p:cNvPr>
          <p:cNvPicPr>
            <a:picLocks noChangeAspect="1"/>
          </p:cNvPicPr>
          <p:nvPr/>
        </p:nvPicPr>
        <p:blipFill>
          <a:blip r:embed="rId4"/>
          <a:stretch>
            <a:fillRect/>
          </a:stretch>
        </p:blipFill>
        <p:spPr>
          <a:xfrm>
            <a:off x="3487887" y="4191975"/>
            <a:ext cx="193121" cy="193121"/>
          </a:xfrm>
          <a:prstGeom prst="rect">
            <a:avLst/>
          </a:prstGeom>
        </p:spPr>
      </p:pic>
      <p:sp>
        <p:nvSpPr>
          <p:cNvPr id="21" name="text-231"/>
          <p:cNvSpPr txBox="1"/>
          <p:nvPr/>
        </p:nvSpPr>
        <p:spPr>
          <a:xfrm>
            <a:off x="3886200" y="3977640"/>
            <a:ext cx="1920240" cy="621792"/>
          </a:xfrm>
          <a:prstGeom prst="rect">
            <a:avLst/>
          </a:prstGeom>
          <a:noFill/>
          <a:ln/>
        </p:spPr>
        <p:txBody>
          <a:bodyPr wrap="square" lIns="0" tIns="0" rIns="0" bIns="0" rtlCol="0" anchor="ctr"/>
          <a:lstStyle/>
          <a:p>
            <a:pPr indent="0" marL="0">
              <a:buNone/>
            </a:pPr>
            <a:r>
              <a:rPr lang="en-US" sz="1300" dirty="0">
                <a:solidFill>
                  <a:schemeClr val="tx1"/>
                </a:solidFill>
              </a:rPr>
              <a:t>Máximo 4 opciones por pantalla</a:t>
            </a:r>
            <a:endParaRPr lang="en-US" sz="1300" dirty="0"/>
          </a:p>
        </p:txBody>
      </p:sp>
      <p:sp>
        <p:nvSpPr>
          <p:cNvPr id="22" name="card-232"/>
          <p:cNvSpPr/>
          <p:nvPr/>
        </p:nvSpPr>
        <p:spPr>
          <a:xfrm>
            <a:off x="6035040" y="3977640"/>
            <a:ext cx="2651760" cy="621792"/>
          </a:xfrm>
          <a:prstGeom prst="roundRect">
            <a:avLst>
              <a:gd name="adj" fmla="val 17647"/>
            </a:avLst>
          </a:prstGeom>
          <a:solidFill>
            <a:schemeClr val="bg1"/>
          </a:solidFill>
          <a:ln w="12700">
            <a:solidFill>
              <a:srgbClr val="D3DCE3"/>
            </a:solidFill>
            <a:prstDash val="solid"/>
          </a:ln>
        </p:spPr>
      </p:sp>
      <p:sp>
        <p:nvSpPr>
          <p:cNvPr id="23" name="icon-bg-233"/>
          <p:cNvSpPr/>
          <p:nvPr/>
        </p:nvSpPr>
        <p:spPr>
          <a:xfrm>
            <a:off x="6172200" y="4087368"/>
            <a:ext cx="402336" cy="402336"/>
          </a:xfrm>
          <a:prstGeom prst="ellipse">
            <a:avLst/>
          </a:prstGeom>
          <a:solidFill>
            <a:schemeClr val="accent3"/>
          </a:solidFill>
          <a:ln/>
        </p:spPr>
      </p:sp>
      <p:pic>
        <p:nvPicPr>
          <p:cNvPr id="24" name="icon-234" descr="preencoded.png">    </p:cNvPr>
          <p:cNvPicPr>
            <a:picLocks noChangeAspect="1"/>
          </p:cNvPicPr>
          <p:nvPr/>
        </p:nvPicPr>
        <p:blipFill>
          <a:blip r:embed="rId5"/>
          <a:stretch>
            <a:fillRect/>
          </a:stretch>
        </p:blipFill>
        <p:spPr>
          <a:xfrm>
            <a:off x="6276807" y="4191975"/>
            <a:ext cx="193121" cy="193121"/>
          </a:xfrm>
          <a:prstGeom prst="rect">
            <a:avLst/>
          </a:prstGeom>
        </p:spPr>
      </p:pic>
      <p:sp>
        <p:nvSpPr>
          <p:cNvPr id="25" name="text-235"/>
          <p:cNvSpPr txBox="1"/>
          <p:nvPr/>
        </p:nvSpPr>
        <p:spPr>
          <a:xfrm>
            <a:off x="6675120" y="3977640"/>
            <a:ext cx="1920240" cy="621792"/>
          </a:xfrm>
          <a:prstGeom prst="rect">
            <a:avLst/>
          </a:prstGeom>
          <a:noFill/>
          <a:ln/>
        </p:spPr>
        <p:txBody>
          <a:bodyPr wrap="square" lIns="0" tIns="0" rIns="0" bIns="0" rtlCol="0" anchor="ctr"/>
          <a:lstStyle/>
          <a:p>
            <a:pPr indent="0" marL="0">
              <a:buNone/>
            </a:pPr>
            <a:r>
              <a:rPr lang="en-US" sz="1300" dirty="0">
                <a:solidFill>
                  <a:schemeClr val="tx1"/>
                </a:solidFill>
              </a:rPr>
              <a:t>Refuerzo positivo, sin castigo</a:t>
            </a:r>
            <a:endParaRPr lang="en-US" sz="13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chemeClr val="tx2"/>
                </a:solidFill>
                <a:latin typeface="Bookman Old Style" pitchFamily="34" charset="0"/>
                <a:ea typeface="Bookman Old Style" pitchFamily="34" charset="-122"/>
                <a:cs typeface="Bookman Old Style" pitchFamily="34" charset="-120"/>
              </a:rPr>
              <a:t>Perfiles editables y accesibilidad</a:t>
            </a:r>
            <a:endParaRPr lang="en-US" sz="3000" dirty="0"/>
          </a:p>
        </p:txBody>
      </p:sp>
      <p:sp>
        <p:nvSpPr>
          <p:cNvPr id="3" name="card-236"/>
          <p:cNvSpPr/>
          <p:nvPr/>
        </p:nvSpPr>
        <p:spPr>
          <a:xfrm>
            <a:off x="457200" y="1097280"/>
            <a:ext cx="1965960" cy="2286000"/>
          </a:xfrm>
          <a:prstGeom prst="roundRect">
            <a:avLst>
              <a:gd name="adj" fmla="val 5581"/>
            </a:avLst>
          </a:prstGeom>
          <a:solidFill>
            <a:schemeClr val="bg1"/>
          </a:solidFill>
          <a:ln w="12700">
            <a:solidFill>
              <a:srgbClr val="D3DCE3"/>
            </a:solidFill>
            <a:prstDash val="solid"/>
          </a:ln>
          <a:effectLst>
            <a:outerShdw sx="100000" sy="100000" kx="0" ky="0" algn="bl" rotWithShape="0" blurRad="76200" dist="25400" dir="5400000">
              <a:srgbClr val="1E2A36">
                <a:alpha val="12000"/>
              </a:srgbClr>
            </a:outerShdw>
          </a:effectLst>
        </p:spPr>
      </p:sp>
      <p:sp>
        <p:nvSpPr>
          <p:cNvPr id="4" name="text-237"/>
          <p:cNvSpPr txBox="1"/>
          <p:nvPr/>
        </p:nvSpPr>
        <p:spPr>
          <a:xfrm>
            <a:off x="640080" y="1234440"/>
            <a:ext cx="1600200" cy="320040"/>
          </a:xfrm>
          <a:prstGeom prst="rect">
            <a:avLst/>
          </a:prstGeom>
          <a:noFill/>
          <a:ln/>
        </p:spPr>
        <p:txBody>
          <a:bodyPr wrap="square" lIns="0" tIns="0" rIns="0" bIns="0" rtlCol="0" anchor="t"/>
          <a:lstStyle/>
          <a:p>
            <a:pPr indent="0" marL="0">
              <a:buNone/>
            </a:pPr>
            <a:r>
              <a:rPr lang="en-US" sz="1400" b="1" dirty="0">
                <a:solidFill>
                  <a:schemeClr val="tx2"/>
                </a:solidFill>
              </a:rPr>
              <a:t>Hola</a:t>
            </a:r>
            <a:endParaRPr lang="en-US" sz="1400" dirty="0"/>
          </a:p>
        </p:txBody>
      </p:sp>
      <p:sp>
        <p:nvSpPr>
          <p:cNvPr id="5" name="tile-238"/>
          <p:cNvSpPr/>
          <p:nvPr/>
        </p:nvSpPr>
        <p:spPr>
          <a:xfrm>
            <a:off x="777240" y="1691640"/>
            <a:ext cx="1325880" cy="822960"/>
          </a:xfrm>
          <a:prstGeom prst="roundRect">
            <a:avLst>
              <a:gd name="adj" fmla="val 13333"/>
            </a:avLst>
          </a:prstGeom>
          <a:solidFill>
            <a:schemeClr val="accent6"/>
          </a:solidFill>
          <a:ln/>
        </p:spPr>
        <p:txBody>
          <a:bodyPr wrap="square" lIns="0" tIns="0" rIns="0" bIns="0" rtlCol="0" anchor="ctr"/>
          <a:lstStyle/>
          <a:p>
            <a:pPr algn="ctr" indent="0" marL="0">
              <a:buNone/>
            </a:pPr>
            <a:r>
              <a:rPr lang="en-US" sz="2800" b="1" dirty="0">
                <a:solidFill>
                  <a:schemeClr val="tx1"/>
                </a:solidFill>
                <a:latin typeface="Arial" pitchFamily="34" charset="0"/>
                <a:ea typeface="Arial" pitchFamily="34" charset="-122"/>
                <a:cs typeface="Arial" pitchFamily="34" charset="-120"/>
              </a:rPr>
              <a:t>MA</a:t>
            </a:r>
            <a:endParaRPr lang="en-US" sz="2800" dirty="0"/>
          </a:p>
        </p:txBody>
      </p:sp>
      <p:sp>
        <p:nvSpPr>
          <p:cNvPr id="6" name="card-239"/>
          <p:cNvSpPr/>
          <p:nvPr/>
        </p:nvSpPr>
        <p:spPr>
          <a:xfrm>
            <a:off x="777240" y="2697480"/>
            <a:ext cx="594360" cy="457200"/>
          </a:xfrm>
          <a:prstGeom prst="roundRect">
            <a:avLst>
              <a:gd name="adj" fmla="val 24000"/>
            </a:avLst>
          </a:prstGeom>
          <a:solidFill>
            <a:srgbClr val="A8D5C6"/>
          </a:solidFill>
          <a:ln/>
        </p:spPr>
      </p:sp>
      <p:sp>
        <p:nvSpPr>
          <p:cNvPr id="7" name="card-240"/>
          <p:cNvSpPr/>
          <p:nvPr/>
        </p:nvSpPr>
        <p:spPr>
          <a:xfrm>
            <a:off x="1508760" y="2697480"/>
            <a:ext cx="594360" cy="457200"/>
          </a:xfrm>
          <a:prstGeom prst="roundRect">
            <a:avLst>
              <a:gd name="adj" fmla="val 24000"/>
            </a:avLst>
          </a:prstGeom>
          <a:solidFill>
            <a:srgbClr val="B7CDE3"/>
          </a:solidFill>
          <a:ln/>
        </p:spPr>
      </p:sp>
      <p:sp>
        <p:nvSpPr>
          <p:cNvPr id="8" name="card-241"/>
          <p:cNvSpPr/>
          <p:nvPr/>
        </p:nvSpPr>
        <p:spPr>
          <a:xfrm>
            <a:off x="2606040" y="1097280"/>
            <a:ext cx="1965960" cy="2286000"/>
          </a:xfrm>
          <a:prstGeom prst="roundRect">
            <a:avLst>
              <a:gd name="adj" fmla="val 5581"/>
            </a:avLst>
          </a:prstGeom>
          <a:solidFill>
            <a:srgbClr val="111111"/>
          </a:solidFill>
          <a:ln/>
        </p:spPr>
      </p:sp>
      <p:sp>
        <p:nvSpPr>
          <p:cNvPr id="9" name="text-242"/>
          <p:cNvSpPr txBox="1"/>
          <p:nvPr/>
        </p:nvSpPr>
        <p:spPr>
          <a:xfrm>
            <a:off x="2788920" y="1188720"/>
            <a:ext cx="1600200" cy="411480"/>
          </a:xfrm>
          <a:prstGeom prst="rect">
            <a:avLst/>
          </a:prstGeom>
          <a:noFill/>
          <a:ln/>
        </p:spPr>
        <p:txBody>
          <a:bodyPr wrap="square" lIns="0" tIns="0" rIns="0" bIns="0" rtlCol="0" anchor="t"/>
          <a:lstStyle/>
          <a:p>
            <a:pPr indent="0" marL="0">
              <a:buNone/>
            </a:pPr>
            <a:r>
              <a:rPr lang="en-US" sz="1800" b="1" dirty="0">
                <a:solidFill>
                  <a:srgbClr val="FFFFFF"/>
                </a:solidFill>
              </a:rPr>
              <a:t>Hola</a:t>
            </a:r>
            <a:endParaRPr lang="en-US" sz="1800" dirty="0"/>
          </a:p>
        </p:txBody>
      </p:sp>
      <p:sp>
        <p:nvSpPr>
          <p:cNvPr id="10" name="tile-243"/>
          <p:cNvSpPr/>
          <p:nvPr/>
        </p:nvSpPr>
        <p:spPr>
          <a:xfrm>
            <a:off x="2926080" y="1691640"/>
            <a:ext cx="1325880" cy="822960"/>
          </a:xfrm>
          <a:prstGeom prst="roundRect">
            <a:avLst>
              <a:gd name="adj" fmla="val 13333"/>
            </a:avLst>
          </a:prstGeom>
          <a:solidFill>
            <a:srgbClr val="FFD400"/>
          </a:solidFill>
          <a:ln/>
        </p:spPr>
        <p:txBody>
          <a:bodyPr wrap="square" lIns="0" tIns="0" rIns="0" bIns="0" rtlCol="0" anchor="ctr"/>
          <a:lstStyle/>
          <a:p>
            <a:pPr algn="ctr" indent="0" marL="0">
              <a:buNone/>
            </a:pPr>
            <a:r>
              <a:rPr lang="en-US" sz="3400" b="1" dirty="0">
                <a:solidFill>
                  <a:srgbClr val="000000"/>
                </a:solidFill>
                <a:latin typeface="Arial" pitchFamily="34" charset="0"/>
                <a:ea typeface="Arial" pitchFamily="34" charset="-122"/>
                <a:cs typeface="Arial" pitchFamily="34" charset="-120"/>
              </a:rPr>
              <a:t>MA</a:t>
            </a:r>
            <a:endParaRPr lang="en-US" sz="3400" dirty="0"/>
          </a:p>
        </p:txBody>
      </p:sp>
      <p:sp>
        <p:nvSpPr>
          <p:cNvPr id="11" name="card-244"/>
          <p:cNvSpPr/>
          <p:nvPr/>
        </p:nvSpPr>
        <p:spPr>
          <a:xfrm>
            <a:off x="2926080" y="2697480"/>
            <a:ext cx="594360" cy="457200"/>
          </a:xfrm>
          <a:prstGeom prst="roundRect">
            <a:avLst>
              <a:gd name="adj" fmla="val 24000"/>
            </a:avLst>
          </a:prstGeom>
          <a:solidFill>
            <a:srgbClr val="FFFFFF"/>
          </a:solidFill>
          <a:ln/>
        </p:spPr>
      </p:sp>
      <p:sp>
        <p:nvSpPr>
          <p:cNvPr id="12" name="card-245"/>
          <p:cNvSpPr/>
          <p:nvPr/>
        </p:nvSpPr>
        <p:spPr>
          <a:xfrm>
            <a:off x="3657600" y="2697480"/>
            <a:ext cx="594360" cy="457200"/>
          </a:xfrm>
          <a:prstGeom prst="roundRect">
            <a:avLst>
              <a:gd name="adj" fmla="val 24000"/>
            </a:avLst>
          </a:prstGeom>
          <a:solidFill>
            <a:srgbClr val="FFD400"/>
          </a:solidFill>
          <a:ln/>
        </p:spPr>
      </p:sp>
      <p:sp>
        <p:nvSpPr>
          <p:cNvPr id="13" name="text-246"/>
          <p:cNvSpPr txBox="1"/>
          <p:nvPr/>
        </p:nvSpPr>
        <p:spPr>
          <a:xfrm>
            <a:off x="457200" y="3474720"/>
            <a:ext cx="1965960" cy="274320"/>
          </a:xfrm>
          <a:prstGeom prst="rect">
            <a:avLst/>
          </a:prstGeom>
          <a:noFill/>
          <a:ln/>
        </p:spPr>
        <p:txBody>
          <a:bodyPr wrap="square" lIns="0" tIns="0" rIns="0" bIns="0" rtlCol="0" anchor="t"/>
          <a:lstStyle/>
          <a:p>
            <a:pPr algn="ctr" indent="0" marL="0">
              <a:buNone/>
            </a:pPr>
            <a:r>
              <a:rPr lang="en-US" sz="1200" b="1" dirty="0">
                <a:solidFill>
                  <a:srgbClr val="5B6B7A"/>
                </a:solidFill>
              </a:rPr>
              <a:t>Vista estándar</a:t>
            </a:r>
            <a:endParaRPr lang="en-US" sz="1200" dirty="0"/>
          </a:p>
        </p:txBody>
      </p:sp>
      <p:sp>
        <p:nvSpPr>
          <p:cNvPr id="14" name="text-247"/>
          <p:cNvSpPr txBox="1"/>
          <p:nvPr/>
        </p:nvSpPr>
        <p:spPr>
          <a:xfrm>
            <a:off x="2606040" y="3474720"/>
            <a:ext cx="1965960" cy="274320"/>
          </a:xfrm>
          <a:prstGeom prst="rect">
            <a:avLst/>
          </a:prstGeom>
          <a:noFill/>
          <a:ln/>
        </p:spPr>
        <p:txBody>
          <a:bodyPr wrap="square" lIns="0" tIns="0" rIns="0" bIns="0" rtlCol="0" anchor="t"/>
          <a:lstStyle/>
          <a:p>
            <a:pPr algn="ctr" indent="0" marL="0">
              <a:buNone/>
            </a:pPr>
            <a:r>
              <a:rPr lang="en-US" sz="1200" b="1" dirty="0">
                <a:solidFill>
                  <a:srgbClr val="5B6B7A"/>
                </a:solidFill>
              </a:rPr>
              <a:t>Alto contraste</a:t>
            </a:r>
            <a:endParaRPr lang="en-US" sz="1200" dirty="0"/>
          </a:p>
        </p:txBody>
      </p:sp>
      <p:sp>
        <p:nvSpPr>
          <p:cNvPr id="15" name="text-248"/>
          <p:cNvSpPr txBox="1"/>
          <p:nvPr/>
        </p:nvSpPr>
        <p:spPr>
          <a:xfrm>
            <a:off x="457200" y="3886200"/>
            <a:ext cx="4114800" cy="685800"/>
          </a:xfrm>
          <a:prstGeom prst="rect">
            <a:avLst/>
          </a:prstGeom>
          <a:noFill/>
          <a:ln/>
        </p:spPr>
        <p:txBody>
          <a:bodyPr wrap="square" lIns="0" tIns="0" rIns="0" bIns="0" rtlCol="0" anchor="t"/>
          <a:lstStyle/>
          <a:p>
            <a:pPr indent="0" marL="0">
              <a:buNone/>
            </a:pPr>
            <a:r>
              <a:rPr lang="en-US" sz="1300" dirty="0">
                <a:solidFill>
                  <a:schemeClr val="tx1"/>
                </a:solidFill>
              </a:rPr>
              <a:t>Colores suaves por defecto, sin destellos ni parpadeos, y botón para silenciar efectos en cada pantalla.</a:t>
            </a:r>
            <a:endParaRPr lang="en-US" sz="1300" dirty="0"/>
          </a:p>
        </p:txBody>
      </p:sp>
      <p:sp>
        <p:nvSpPr>
          <p:cNvPr id="16" name="text-249"/>
          <p:cNvSpPr txBox="1"/>
          <p:nvPr/>
        </p:nvSpPr>
        <p:spPr>
          <a:xfrm>
            <a:off x="4937760" y="1051560"/>
            <a:ext cx="3749040" cy="320040"/>
          </a:xfrm>
          <a:prstGeom prst="rect">
            <a:avLst/>
          </a:prstGeom>
          <a:noFill/>
          <a:ln/>
        </p:spPr>
        <p:txBody>
          <a:bodyPr wrap="square" lIns="0" tIns="0" rIns="0" bIns="0" rtlCol="0" anchor="t"/>
          <a:lstStyle/>
          <a:p>
            <a:pPr indent="0" marL="0">
              <a:buNone/>
            </a:pPr>
            <a:r>
              <a:rPr lang="en-US" sz="1400" b="1" dirty="0">
                <a:solidFill>
                  <a:schemeClr val="tx2"/>
                </a:solidFill>
              </a:rPr>
              <a:t>Ajustes en el perfil de cada niño</a:t>
            </a:r>
            <a:endParaRPr lang="en-US" sz="1400" dirty="0"/>
          </a:p>
        </p:txBody>
      </p:sp>
      <p:sp>
        <p:nvSpPr>
          <p:cNvPr id="17" name="icon-bg-250"/>
          <p:cNvSpPr/>
          <p:nvPr/>
        </p:nvSpPr>
        <p:spPr>
          <a:xfrm>
            <a:off x="4937760" y="1481328"/>
            <a:ext cx="384048" cy="384048"/>
          </a:xfrm>
          <a:prstGeom prst="ellipse">
            <a:avLst/>
          </a:prstGeom>
          <a:solidFill>
            <a:schemeClr val="accent1"/>
          </a:solidFill>
          <a:ln/>
        </p:spPr>
      </p:sp>
      <p:pic>
        <p:nvPicPr>
          <p:cNvPr id="18" name="icon-251" descr="preencoded.png">    </p:cNvPr>
          <p:cNvPicPr>
            <a:picLocks noChangeAspect="1"/>
          </p:cNvPicPr>
          <p:nvPr/>
        </p:nvPicPr>
        <p:blipFill>
          <a:blip r:embed="rId1"/>
          <a:stretch>
            <a:fillRect/>
          </a:stretch>
        </p:blipFill>
        <p:spPr>
          <a:xfrm>
            <a:off x="5037612" y="1581180"/>
            <a:ext cx="184343" cy="184343"/>
          </a:xfrm>
          <a:prstGeom prst="rect">
            <a:avLst/>
          </a:prstGeom>
        </p:spPr>
      </p:pic>
      <p:sp>
        <p:nvSpPr>
          <p:cNvPr id="19" name="text-252"/>
          <p:cNvSpPr txBox="1"/>
          <p:nvPr/>
        </p:nvSpPr>
        <p:spPr>
          <a:xfrm>
            <a:off x="5468112" y="1481328"/>
            <a:ext cx="3200400" cy="384048"/>
          </a:xfrm>
          <a:prstGeom prst="rect">
            <a:avLst/>
          </a:prstGeom>
          <a:noFill/>
          <a:ln/>
        </p:spPr>
        <p:txBody>
          <a:bodyPr wrap="square" lIns="0" tIns="0" rIns="0" bIns="0" rtlCol="0" anchor="ctr"/>
          <a:lstStyle/>
          <a:p>
            <a:pPr indent="0" marL="0">
              <a:buNone/>
            </a:pPr>
            <a:r>
              <a:rPr lang="en-US" sz="1400" dirty="0">
                <a:solidFill>
                  <a:schemeClr val="tx1"/>
                </a:solidFill>
              </a:rPr>
              <a:t>Tamaño de letra (siempre en imprenta)</a:t>
            </a:r>
            <a:endParaRPr lang="en-US" sz="1400" dirty="0"/>
          </a:p>
        </p:txBody>
      </p:sp>
      <p:sp>
        <p:nvSpPr>
          <p:cNvPr id="20" name="icon-bg-253"/>
          <p:cNvSpPr/>
          <p:nvPr/>
        </p:nvSpPr>
        <p:spPr>
          <a:xfrm>
            <a:off x="4937760" y="1956816"/>
            <a:ext cx="384048" cy="384048"/>
          </a:xfrm>
          <a:prstGeom prst="ellipse">
            <a:avLst/>
          </a:prstGeom>
          <a:solidFill>
            <a:schemeClr val="tx2"/>
          </a:solidFill>
          <a:ln/>
        </p:spPr>
      </p:sp>
      <p:pic>
        <p:nvPicPr>
          <p:cNvPr id="21" name="icon-254" descr="preencoded.png">    </p:cNvPr>
          <p:cNvPicPr>
            <a:picLocks noChangeAspect="1"/>
          </p:cNvPicPr>
          <p:nvPr/>
        </p:nvPicPr>
        <p:blipFill>
          <a:blip r:embed="rId2"/>
          <a:stretch>
            <a:fillRect/>
          </a:stretch>
        </p:blipFill>
        <p:spPr>
          <a:xfrm>
            <a:off x="5037612" y="2056668"/>
            <a:ext cx="184343" cy="184343"/>
          </a:xfrm>
          <a:prstGeom prst="rect">
            <a:avLst/>
          </a:prstGeom>
        </p:spPr>
      </p:pic>
      <p:sp>
        <p:nvSpPr>
          <p:cNvPr id="22" name="text-255"/>
          <p:cNvSpPr txBox="1"/>
          <p:nvPr/>
        </p:nvSpPr>
        <p:spPr>
          <a:xfrm>
            <a:off x="5468112" y="1956816"/>
            <a:ext cx="3200400" cy="384048"/>
          </a:xfrm>
          <a:prstGeom prst="rect">
            <a:avLst/>
          </a:prstGeom>
          <a:noFill/>
          <a:ln/>
        </p:spPr>
        <p:txBody>
          <a:bodyPr wrap="square" lIns="0" tIns="0" rIns="0" bIns="0" rtlCol="0" anchor="ctr"/>
          <a:lstStyle/>
          <a:p>
            <a:pPr indent="0" marL="0">
              <a:buNone/>
            </a:pPr>
            <a:r>
              <a:rPr lang="en-US" sz="1400" dirty="0">
                <a:solidFill>
                  <a:schemeClr val="tx1"/>
                </a:solidFill>
              </a:rPr>
              <a:t>Contraste de colores</a:t>
            </a:r>
            <a:endParaRPr lang="en-US" sz="1400" dirty="0"/>
          </a:p>
        </p:txBody>
      </p:sp>
      <p:sp>
        <p:nvSpPr>
          <p:cNvPr id="23" name="icon-bg-256"/>
          <p:cNvSpPr/>
          <p:nvPr/>
        </p:nvSpPr>
        <p:spPr>
          <a:xfrm>
            <a:off x="4937760" y="2432304"/>
            <a:ext cx="384048" cy="384048"/>
          </a:xfrm>
          <a:prstGeom prst="ellipse">
            <a:avLst/>
          </a:prstGeom>
          <a:solidFill>
            <a:schemeClr val="accent4"/>
          </a:solidFill>
          <a:ln/>
        </p:spPr>
      </p:sp>
      <p:pic>
        <p:nvPicPr>
          <p:cNvPr id="24" name="icon-257" descr="preencoded.png">    </p:cNvPr>
          <p:cNvPicPr>
            <a:picLocks noChangeAspect="1"/>
          </p:cNvPicPr>
          <p:nvPr/>
        </p:nvPicPr>
        <p:blipFill>
          <a:blip r:embed="rId3"/>
          <a:stretch>
            <a:fillRect/>
          </a:stretch>
        </p:blipFill>
        <p:spPr>
          <a:xfrm>
            <a:off x="5037612" y="2532156"/>
            <a:ext cx="184343" cy="184343"/>
          </a:xfrm>
          <a:prstGeom prst="rect">
            <a:avLst/>
          </a:prstGeom>
        </p:spPr>
      </p:pic>
      <p:sp>
        <p:nvSpPr>
          <p:cNvPr id="25" name="text-258"/>
          <p:cNvSpPr txBox="1"/>
          <p:nvPr/>
        </p:nvSpPr>
        <p:spPr>
          <a:xfrm>
            <a:off x="5468112" y="2432304"/>
            <a:ext cx="3200400" cy="384048"/>
          </a:xfrm>
          <a:prstGeom prst="rect">
            <a:avLst/>
          </a:prstGeom>
          <a:noFill/>
          <a:ln/>
        </p:spPr>
        <p:txBody>
          <a:bodyPr wrap="square" lIns="0" tIns="0" rIns="0" bIns="0" rtlCol="0" anchor="ctr"/>
          <a:lstStyle/>
          <a:p>
            <a:pPr indent="0" marL="0">
              <a:buNone/>
            </a:pPr>
            <a:r>
              <a:rPr lang="en-US" sz="1400" dirty="0">
                <a:solidFill>
                  <a:schemeClr val="tx1"/>
                </a:solidFill>
              </a:rPr>
              <a:t>Volumen de voz y efectos</a:t>
            </a:r>
            <a:endParaRPr lang="en-US" sz="1400" dirty="0"/>
          </a:p>
        </p:txBody>
      </p:sp>
      <p:sp>
        <p:nvSpPr>
          <p:cNvPr id="26" name="icon-bg-259"/>
          <p:cNvSpPr/>
          <p:nvPr/>
        </p:nvSpPr>
        <p:spPr>
          <a:xfrm>
            <a:off x="4937760" y="2907792"/>
            <a:ext cx="384048" cy="384048"/>
          </a:xfrm>
          <a:prstGeom prst="ellipse">
            <a:avLst/>
          </a:prstGeom>
          <a:solidFill>
            <a:schemeClr val="accent5"/>
          </a:solidFill>
          <a:ln/>
        </p:spPr>
      </p:sp>
      <p:pic>
        <p:nvPicPr>
          <p:cNvPr id="27" name="icon-260" descr="preencoded.png">    </p:cNvPr>
          <p:cNvPicPr>
            <a:picLocks noChangeAspect="1"/>
          </p:cNvPicPr>
          <p:nvPr/>
        </p:nvPicPr>
        <p:blipFill>
          <a:blip r:embed="rId4"/>
          <a:stretch>
            <a:fillRect/>
          </a:stretch>
        </p:blipFill>
        <p:spPr>
          <a:xfrm>
            <a:off x="5037612" y="3007644"/>
            <a:ext cx="184343" cy="184343"/>
          </a:xfrm>
          <a:prstGeom prst="rect">
            <a:avLst/>
          </a:prstGeom>
        </p:spPr>
      </p:pic>
      <p:sp>
        <p:nvSpPr>
          <p:cNvPr id="28" name="text-261"/>
          <p:cNvSpPr txBox="1"/>
          <p:nvPr/>
        </p:nvSpPr>
        <p:spPr>
          <a:xfrm>
            <a:off x="5468112" y="2907792"/>
            <a:ext cx="3200400" cy="384048"/>
          </a:xfrm>
          <a:prstGeom prst="rect">
            <a:avLst/>
          </a:prstGeom>
          <a:noFill/>
          <a:ln/>
        </p:spPr>
        <p:txBody>
          <a:bodyPr wrap="square" lIns="0" tIns="0" rIns="0" bIns="0" rtlCol="0" anchor="ctr"/>
          <a:lstStyle/>
          <a:p>
            <a:pPr indent="0" marL="0">
              <a:buNone/>
            </a:pPr>
            <a:r>
              <a:rPr lang="en-US" sz="1400" dirty="0">
                <a:solidFill>
                  <a:schemeClr val="tx1"/>
                </a:solidFill>
              </a:rPr>
              <a:t>Reducir animaciones</a:t>
            </a:r>
            <a:endParaRPr lang="en-US" sz="1400" dirty="0"/>
          </a:p>
        </p:txBody>
      </p:sp>
      <p:sp>
        <p:nvSpPr>
          <p:cNvPr id="29" name="icon-bg-262"/>
          <p:cNvSpPr/>
          <p:nvPr/>
        </p:nvSpPr>
        <p:spPr>
          <a:xfrm>
            <a:off x="4937760" y="3383280"/>
            <a:ext cx="384048" cy="384048"/>
          </a:xfrm>
          <a:prstGeom prst="ellipse">
            <a:avLst/>
          </a:prstGeom>
          <a:solidFill>
            <a:schemeClr val="accent2"/>
          </a:solidFill>
          <a:ln/>
        </p:spPr>
      </p:sp>
      <p:pic>
        <p:nvPicPr>
          <p:cNvPr id="30" name="icon-263" descr="preencoded.png">    </p:cNvPr>
          <p:cNvPicPr>
            <a:picLocks noChangeAspect="1"/>
          </p:cNvPicPr>
          <p:nvPr/>
        </p:nvPicPr>
        <p:blipFill>
          <a:blip r:embed="rId5"/>
          <a:stretch>
            <a:fillRect/>
          </a:stretch>
        </p:blipFill>
        <p:spPr>
          <a:xfrm>
            <a:off x="5037612" y="3483132"/>
            <a:ext cx="184343" cy="184343"/>
          </a:xfrm>
          <a:prstGeom prst="rect">
            <a:avLst/>
          </a:prstGeom>
        </p:spPr>
      </p:pic>
      <p:sp>
        <p:nvSpPr>
          <p:cNvPr id="31" name="text-264"/>
          <p:cNvSpPr txBox="1"/>
          <p:nvPr/>
        </p:nvSpPr>
        <p:spPr>
          <a:xfrm>
            <a:off x="5468112" y="3383280"/>
            <a:ext cx="3200400" cy="384048"/>
          </a:xfrm>
          <a:prstGeom prst="rect">
            <a:avLst/>
          </a:prstGeom>
          <a:noFill/>
          <a:ln/>
        </p:spPr>
        <p:txBody>
          <a:bodyPr wrap="square" lIns="0" tIns="0" rIns="0" bIns="0" rtlCol="0" anchor="ctr"/>
          <a:lstStyle/>
          <a:p>
            <a:pPr indent="0" marL="0">
              <a:buNone/>
            </a:pPr>
            <a:r>
              <a:rPr lang="en-US" sz="1400" dirty="0">
                <a:solidFill>
                  <a:schemeClr val="tx1"/>
                </a:solidFill>
              </a:rPr>
              <a:t>Foto real o pictograma</a:t>
            </a:r>
            <a:endParaRPr lang="en-US" sz="1400" dirty="0"/>
          </a:p>
        </p:txBody>
      </p:sp>
      <p:sp>
        <p:nvSpPr>
          <p:cNvPr id="32" name="icon-bg-265"/>
          <p:cNvSpPr/>
          <p:nvPr/>
        </p:nvSpPr>
        <p:spPr>
          <a:xfrm>
            <a:off x="4937760" y="3858768"/>
            <a:ext cx="384048" cy="384048"/>
          </a:xfrm>
          <a:prstGeom prst="ellipse">
            <a:avLst/>
          </a:prstGeom>
          <a:solidFill>
            <a:schemeClr val="accent3"/>
          </a:solidFill>
          <a:ln/>
        </p:spPr>
      </p:sp>
      <p:pic>
        <p:nvPicPr>
          <p:cNvPr id="33" name="icon-266" descr="preencoded.png">    </p:cNvPr>
          <p:cNvPicPr>
            <a:picLocks noChangeAspect="1"/>
          </p:cNvPicPr>
          <p:nvPr/>
        </p:nvPicPr>
        <p:blipFill>
          <a:blip r:embed="rId6"/>
          <a:stretch>
            <a:fillRect/>
          </a:stretch>
        </p:blipFill>
        <p:spPr>
          <a:xfrm>
            <a:off x="5037612" y="3958620"/>
            <a:ext cx="184343" cy="184343"/>
          </a:xfrm>
          <a:prstGeom prst="rect">
            <a:avLst/>
          </a:prstGeom>
        </p:spPr>
      </p:pic>
      <p:sp>
        <p:nvSpPr>
          <p:cNvPr id="34" name="text-267"/>
          <p:cNvSpPr txBox="1"/>
          <p:nvPr/>
        </p:nvSpPr>
        <p:spPr>
          <a:xfrm>
            <a:off x="5468112" y="3858768"/>
            <a:ext cx="3200400" cy="384048"/>
          </a:xfrm>
          <a:prstGeom prst="rect">
            <a:avLst/>
          </a:prstGeom>
          <a:noFill/>
          <a:ln/>
        </p:spPr>
        <p:txBody>
          <a:bodyPr wrap="square" lIns="0" tIns="0" rIns="0" bIns="0" rtlCol="0" anchor="ctr"/>
          <a:lstStyle/>
          <a:p>
            <a:pPr indent="0" marL="0">
              <a:buNone/>
            </a:pPr>
            <a:r>
              <a:rPr lang="en-US" sz="1400" dirty="0">
                <a:solidFill>
                  <a:schemeClr val="tx1"/>
                </a:solidFill>
              </a:rPr>
              <a:t>Avatar y temática favorita</a:t>
            </a:r>
            <a:endParaRPr lang="en-US" sz="1400" dirty="0"/>
          </a:p>
        </p:txBody>
      </p:sp>
      <p:sp>
        <p:nvSpPr>
          <p:cNvPr id="35" name="text-268"/>
          <p:cNvSpPr txBox="1"/>
          <p:nvPr/>
        </p:nvSpPr>
        <p:spPr>
          <a:xfrm>
            <a:off x="4937760" y="4389120"/>
            <a:ext cx="3749040" cy="274320"/>
          </a:xfrm>
          <a:prstGeom prst="rect">
            <a:avLst/>
          </a:prstGeom>
          <a:noFill/>
          <a:ln/>
        </p:spPr>
        <p:txBody>
          <a:bodyPr wrap="square" lIns="0" tIns="0" rIns="0" bIns="0" rtlCol="0" anchor="t"/>
          <a:lstStyle/>
          <a:p>
            <a:pPr indent="0" marL="0">
              <a:buNone/>
            </a:pPr>
            <a:r>
              <a:rPr lang="en-US" sz="1200" i="1" dirty="0">
                <a:solidFill>
                  <a:srgbClr val="5B6B7A"/>
                </a:solidFill>
              </a:rPr>
              <a:t>Los ajustes se guardan y se aplican solos al entrar.</a:t>
            </a:r>
            <a:endParaRPr lang="en-US" sz="12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chemeClr val="tx2"/>
                </a:solidFill>
                <a:latin typeface="Bookman Old Style" pitchFamily="34" charset="0"/>
                <a:ea typeface="Bookman Old Style" pitchFamily="34" charset="-122"/>
                <a:cs typeface="Bookman Old Style" pitchFamily="34" charset="-120"/>
              </a:rPr>
              <a:t>El docente y su curso</a:t>
            </a:r>
            <a:endParaRPr lang="en-US" sz="3000" dirty="0"/>
          </a:p>
        </p:txBody>
      </p:sp>
      <p:sp>
        <p:nvSpPr>
          <p:cNvPr id="3" name="mockup-frame-269"/>
          <p:cNvSpPr/>
          <p:nvPr/>
        </p:nvSpPr>
        <p:spPr>
          <a:xfrm>
            <a:off x="457200" y="1005840"/>
            <a:ext cx="5120640" cy="3611880"/>
          </a:xfrm>
          <a:prstGeom prst="roundRect">
            <a:avLst>
              <a:gd name="adj" fmla="val 2532"/>
            </a:avLst>
          </a:prstGeom>
          <a:solidFill>
            <a:schemeClr val="bg1"/>
          </a:solidFill>
          <a:ln w="12700">
            <a:solidFill>
              <a:srgbClr val="D3DCE3"/>
            </a:solidFill>
            <a:prstDash val="solid"/>
          </a:ln>
          <a:effectLst>
            <a:outerShdw sx="100000" sy="100000" kx="0" ky="0" algn="bl" rotWithShape="0" blurRad="76200" dist="25400" dir="5400000">
              <a:srgbClr val="1E2A36">
                <a:alpha val="12000"/>
              </a:srgbClr>
            </a:outerShdw>
          </a:effectLst>
        </p:spPr>
      </p:sp>
      <p:sp>
        <p:nvSpPr>
          <p:cNvPr id="4" name="mockup-bar-270"/>
          <p:cNvSpPr/>
          <p:nvPr/>
        </p:nvSpPr>
        <p:spPr>
          <a:xfrm>
            <a:off x="475488" y="1097280"/>
            <a:ext cx="5084064" cy="182880"/>
          </a:xfrm>
          <a:prstGeom prst="rect">
            <a:avLst/>
          </a:prstGeom>
          <a:solidFill>
            <a:schemeClr val="bg2"/>
          </a:solidFill>
          <a:ln/>
        </p:spPr>
      </p:sp>
      <p:sp>
        <p:nvSpPr>
          <p:cNvPr id="5" name="mockup-bar-271"/>
          <p:cNvSpPr/>
          <p:nvPr/>
        </p:nvSpPr>
        <p:spPr>
          <a:xfrm>
            <a:off x="475488" y="1024128"/>
            <a:ext cx="5084064" cy="182880"/>
          </a:xfrm>
          <a:prstGeom prst="roundRect">
            <a:avLst>
              <a:gd name="adj" fmla="val 40000"/>
            </a:avLst>
          </a:prstGeom>
          <a:solidFill>
            <a:schemeClr val="bg2"/>
          </a:solidFill>
          <a:ln/>
        </p:spPr>
      </p:sp>
      <p:sp>
        <p:nvSpPr>
          <p:cNvPr id="6" name="mockup-dot-272"/>
          <p:cNvSpPr/>
          <p:nvPr/>
        </p:nvSpPr>
        <p:spPr>
          <a:xfrm>
            <a:off x="594360" y="1097280"/>
            <a:ext cx="91440" cy="91440"/>
          </a:xfrm>
          <a:prstGeom prst="ellipse">
            <a:avLst/>
          </a:prstGeom>
          <a:solidFill>
            <a:srgbClr val="D45D4A"/>
          </a:solidFill>
          <a:ln/>
        </p:spPr>
      </p:sp>
      <p:sp>
        <p:nvSpPr>
          <p:cNvPr id="7" name="mockup-dot-273"/>
          <p:cNvSpPr/>
          <p:nvPr/>
        </p:nvSpPr>
        <p:spPr>
          <a:xfrm>
            <a:off x="740664" y="1097280"/>
            <a:ext cx="91440" cy="91440"/>
          </a:xfrm>
          <a:prstGeom prst="ellipse">
            <a:avLst/>
          </a:prstGeom>
          <a:solidFill>
            <a:srgbClr val="F2C14E"/>
          </a:solidFill>
          <a:ln/>
        </p:spPr>
      </p:sp>
      <p:sp>
        <p:nvSpPr>
          <p:cNvPr id="8" name="mockup-dot-274"/>
          <p:cNvSpPr/>
          <p:nvPr/>
        </p:nvSpPr>
        <p:spPr>
          <a:xfrm>
            <a:off x="886968" y="1097280"/>
            <a:ext cx="91440" cy="91440"/>
          </a:xfrm>
          <a:prstGeom prst="ellipse">
            <a:avLst/>
          </a:prstGeom>
          <a:solidFill>
            <a:srgbClr val="3E8E78"/>
          </a:solidFill>
          <a:ln/>
        </p:spPr>
      </p:sp>
      <p:sp>
        <p:nvSpPr>
          <p:cNvPr id="9" name="card-275"/>
          <p:cNvSpPr/>
          <p:nvPr/>
        </p:nvSpPr>
        <p:spPr>
          <a:xfrm>
            <a:off x="594360" y="1325880"/>
            <a:ext cx="1371600" cy="3154680"/>
          </a:xfrm>
          <a:prstGeom prst="roundRect">
            <a:avLst>
              <a:gd name="adj" fmla="val 5333"/>
            </a:avLst>
          </a:prstGeom>
          <a:solidFill>
            <a:schemeClr val="bg2"/>
          </a:solidFill>
          <a:ln/>
        </p:spPr>
      </p:sp>
      <p:sp>
        <p:nvSpPr>
          <p:cNvPr id="10" name="text-276"/>
          <p:cNvSpPr txBox="1"/>
          <p:nvPr/>
        </p:nvSpPr>
        <p:spPr>
          <a:xfrm>
            <a:off x="731520" y="1417320"/>
            <a:ext cx="1143000" cy="274320"/>
          </a:xfrm>
          <a:prstGeom prst="rect">
            <a:avLst/>
          </a:prstGeom>
          <a:noFill/>
          <a:ln/>
        </p:spPr>
        <p:txBody>
          <a:bodyPr wrap="square" lIns="0" tIns="0" rIns="0" bIns="0" rtlCol="0" anchor="t"/>
          <a:lstStyle/>
          <a:p>
            <a:pPr indent="0" marL="0">
              <a:buNone/>
            </a:pPr>
            <a:r>
              <a:rPr lang="en-US" sz="1200" b="1" dirty="0">
                <a:solidFill>
                  <a:schemeClr val="tx2"/>
                </a:solidFill>
              </a:rPr>
              <a:t>Kínder A</a:t>
            </a:r>
            <a:endParaRPr lang="en-US" sz="1200" dirty="0"/>
          </a:p>
        </p:txBody>
      </p:sp>
      <p:sp>
        <p:nvSpPr>
          <p:cNvPr id="11" name="text-277"/>
          <p:cNvSpPr txBox="1"/>
          <p:nvPr/>
        </p:nvSpPr>
        <p:spPr>
          <a:xfrm>
            <a:off x="777240" y="1783080"/>
            <a:ext cx="1097280" cy="274320"/>
          </a:xfrm>
          <a:prstGeom prst="rect">
            <a:avLst/>
          </a:prstGeom>
          <a:noFill/>
          <a:ln/>
        </p:spPr>
        <p:txBody>
          <a:bodyPr wrap="square" lIns="0" tIns="0" rIns="0" bIns="0" rtlCol="0" anchor="ctr"/>
          <a:lstStyle/>
          <a:p>
            <a:pPr indent="0" marL="0">
              <a:buNone/>
            </a:pPr>
            <a:r>
              <a:rPr lang="en-US" sz="1100" dirty="0">
                <a:solidFill>
                  <a:schemeClr val="tx1"/>
                </a:solidFill>
              </a:rPr>
              <a:t>Sofía</a:t>
            </a:r>
            <a:endParaRPr lang="en-US" sz="1100" dirty="0"/>
          </a:p>
        </p:txBody>
      </p:sp>
      <p:sp>
        <p:nvSpPr>
          <p:cNvPr id="12" name="card-278"/>
          <p:cNvSpPr/>
          <p:nvPr/>
        </p:nvSpPr>
        <p:spPr>
          <a:xfrm>
            <a:off x="658368" y="2157984"/>
            <a:ext cx="1243584" cy="347472"/>
          </a:xfrm>
          <a:prstGeom prst="roundRect">
            <a:avLst>
              <a:gd name="adj" fmla="val 21053"/>
            </a:avLst>
          </a:prstGeom>
          <a:solidFill>
            <a:srgbClr val="D4E9E2"/>
          </a:solidFill>
          <a:ln/>
        </p:spPr>
      </p:sp>
      <p:sp>
        <p:nvSpPr>
          <p:cNvPr id="13" name="text-279"/>
          <p:cNvSpPr txBox="1"/>
          <p:nvPr/>
        </p:nvSpPr>
        <p:spPr>
          <a:xfrm>
            <a:off x="777240" y="2194560"/>
            <a:ext cx="1097280" cy="274320"/>
          </a:xfrm>
          <a:prstGeom prst="rect">
            <a:avLst/>
          </a:prstGeom>
          <a:noFill/>
          <a:ln/>
        </p:spPr>
        <p:txBody>
          <a:bodyPr wrap="square" lIns="0" tIns="0" rIns="0" bIns="0" rtlCol="0" anchor="ctr"/>
          <a:lstStyle/>
          <a:p>
            <a:pPr indent="0" marL="0">
              <a:buNone/>
            </a:pPr>
            <a:r>
              <a:rPr lang="en-US" sz="1100" b="1" dirty="0">
                <a:solidFill>
                  <a:schemeClr val="tx1"/>
                </a:solidFill>
              </a:rPr>
              <a:t>Tomás</a:t>
            </a:r>
            <a:endParaRPr lang="en-US" sz="1100" dirty="0"/>
          </a:p>
        </p:txBody>
      </p:sp>
      <p:sp>
        <p:nvSpPr>
          <p:cNvPr id="14" name="text-280"/>
          <p:cNvSpPr txBox="1"/>
          <p:nvPr/>
        </p:nvSpPr>
        <p:spPr>
          <a:xfrm>
            <a:off x="777240" y="2606040"/>
            <a:ext cx="1097280" cy="274320"/>
          </a:xfrm>
          <a:prstGeom prst="rect">
            <a:avLst/>
          </a:prstGeom>
          <a:noFill/>
          <a:ln/>
        </p:spPr>
        <p:txBody>
          <a:bodyPr wrap="square" lIns="0" tIns="0" rIns="0" bIns="0" rtlCol="0" anchor="ctr"/>
          <a:lstStyle/>
          <a:p>
            <a:pPr indent="0" marL="0">
              <a:buNone/>
            </a:pPr>
            <a:r>
              <a:rPr lang="en-US" sz="1100" dirty="0">
                <a:solidFill>
                  <a:schemeClr val="tx1"/>
                </a:solidFill>
              </a:rPr>
              <a:t>Martina</a:t>
            </a:r>
            <a:endParaRPr lang="en-US" sz="1100" dirty="0"/>
          </a:p>
        </p:txBody>
      </p:sp>
      <p:sp>
        <p:nvSpPr>
          <p:cNvPr id="15" name="text-281"/>
          <p:cNvSpPr txBox="1"/>
          <p:nvPr/>
        </p:nvSpPr>
        <p:spPr>
          <a:xfrm>
            <a:off x="777240" y="3017520"/>
            <a:ext cx="1097280" cy="274320"/>
          </a:xfrm>
          <a:prstGeom prst="rect">
            <a:avLst/>
          </a:prstGeom>
          <a:noFill/>
          <a:ln/>
        </p:spPr>
        <p:txBody>
          <a:bodyPr wrap="square" lIns="0" tIns="0" rIns="0" bIns="0" rtlCol="0" anchor="ctr"/>
          <a:lstStyle/>
          <a:p>
            <a:pPr indent="0" marL="0">
              <a:buNone/>
            </a:pPr>
            <a:r>
              <a:rPr lang="en-US" sz="1100" dirty="0">
                <a:solidFill>
                  <a:schemeClr val="tx1"/>
                </a:solidFill>
              </a:rPr>
              <a:t>Benjamín</a:t>
            </a:r>
            <a:endParaRPr lang="en-US" sz="1100" dirty="0"/>
          </a:p>
        </p:txBody>
      </p:sp>
      <p:sp>
        <p:nvSpPr>
          <p:cNvPr id="16" name="text-282"/>
          <p:cNvSpPr txBox="1"/>
          <p:nvPr/>
        </p:nvSpPr>
        <p:spPr>
          <a:xfrm>
            <a:off x="777240" y="3429000"/>
            <a:ext cx="1097280" cy="274320"/>
          </a:xfrm>
          <a:prstGeom prst="rect">
            <a:avLst/>
          </a:prstGeom>
          <a:noFill/>
          <a:ln/>
        </p:spPr>
        <p:txBody>
          <a:bodyPr wrap="square" lIns="0" tIns="0" rIns="0" bIns="0" rtlCol="0" anchor="ctr"/>
          <a:lstStyle/>
          <a:p>
            <a:pPr indent="0" marL="0">
              <a:buNone/>
            </a:pPr>
            <a:r>
              <a:rPr lang="en-US" sz="1100" dirty="0">
                <a:solidFill>
                  <a:schemeClr val="tx1"/>
                </a:solidFill>
              </a:rPr>
              <a:t>Isidora</a:t>
            </a:r>
            <a:endParaRPr lang="en-US" sz="1100" dirty="0"/>
          </a:p>
        </p:txBody>
      </p:sp>
      <p:sp>
        <p:nvSpPr>
          <p:cNvPr id="17" name="text-283"/>
          <p:cNvSpPr txBox="1"/>
          <p:nvPr/>
        </p:nvSpPr>
        <p:spPr>
          <a:xfrm>
            <a:off x="777240" y="3840480"/>
            <a:ext cx="1097280" cy="274320"/>
          </a:xfrm>
          <a:prstGeom prst="rect">
            <a:avLst/>
          </a:prstGeom>
          <a:noFill/>
          <a:ln/>
        </p:spPr>
        <p:txBody>
          <a:bodyPr wrap="square" lIns="0" tIns="0" rIns="0" bIns="0" rtlCol="0" anchor="ctr"/>
          <a:lstStyle/>
          <a:p>
            <a:pPr indent="0" marL="0">
              <a:buNone/>
            </a:pPr>
            <a:r>
              <a:rPr lang="en-US" sz="1100" dirty="0">
                <a:solidFill>
                  <a:schemeClr val="tx1"/>
                </a:solidFill>
              </a:rPr>
              <a:t>Lucas</a:t>
            </a:r>
            <a:endParaRPr lang="en-US" sz="1100" dirty="0"/>
          </a:p>
        </p:txBody>
      </p:sp>
      <p:sp>
        <p:nvSpPr>
          <p:cNvPr id="18" name="text-284"/>
          <p:cNvSpPr txBox="1"/>
          <p:nvPr/>
        </p:nvSpPr>
        <p:spPr>
          <a:xfrm>
            <a:off x="2148840" y="1371600"/>
            <a:ext cx="3200400" cy="292608"/>
          </a:xfrm>
          <a:prstGeom prst="rect">
            <a:avLst/>
          </a:prstGeom>
          <a:noFill/>
          <a:ln/>
        </p:spPr>
        <p:txBody>
          <a:bodyPr wrap="square" lIns="0" tIns="0" rIns="0" bIns="0" rtlCol="0" anchor="t"/>
          <a:lstStyle/>
          <a:p>
            <a:pPr indent="0" marL="0">
              <a:buNone/>
            </a:pPr>
            <a:r>
              <a:rPr lang="en-US" sz="1300" b="1" dirty="0">
                <a:solidFill>
                  <a:schemeClr val="tx2"/>
                </a:solidFill>
              </a:rPr>
              <a:t>Tomás · avance por letra</a:t>
            </a:r>
            <a:endParaRPr lang="en-US" sz="1300" dirty="0"/>
          </a:p>
        </p:txBody>
      </p:sp>
      <p:sp>
        <p:nvSpPr>
          <p:cNvPr id="19" name="text-285"/>
          <p:cNvSpPr txBox="1"/>
          <p:nvPr/>
        </p:nvSpPr>
        <p:spPr>
          <a:xfrm>
            <a:off x="2148840" y="1810512"/>
            <a:ext cx="274320" cy="228600"/>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A</a:t>
            </a:r>
            <a:endParaRPr lang="en-US" sz="1200" dirty="0"/>
          </a:p>
        </p:txBody>
      </p:sp>
      <p:sp>
        <p:nvSpPr>
          <p:cNvPr id="20" name="bar-track-286"/>
          <p:cNvSpPr/>
          <p:nvPr/>
        </p:nvSpPr>
        <p:spPr>
          <a:xfrm>
            <a:off x="2468880" y="1847088"/>
            <a:ext cx="2011680" cy="155448"/>
          </a:xfrm>
          <a:prstGeom prst="roundRect">
            <a:avLst>
              <a:gd name="adj" fmla="val 47059"/>
            </a:avLst>
          </a:prstGeom>
          <a:solidFill>
            <a:schemeClr val="bg2"/>
          </a:solidFill>
          <a:ln/>
        </p:spPr>
      </p:sp>
      <p:sp>
        <p:nvSpPr>
          <p:cNvPr id="21" name="bar-287"/>
          <p:cNvSpPr/>
          <p:nvPr/>
        </p:nvSpPr>
        <p:spPr>
          <a:xfrm>
            <a:off x="2468880" y="1847088"/>
            <a:ext cx="1911096" cy="155448"/>
          </a:xfrm>
          <a:prstGeom prst="roundRect">
            <a:avLst>
              <a:gd name="adj" fmla="val 47059"/>
            </a:avLst>
          </a:prstGeom>
          <a:solidFill>
            <a:schemeClr val="accent2"/>
          </a:solidFill>
          <a:ln/>
        </p:spPr>
      </p:sp>
      <p:sp>
        <p:nvSpPr>
          <p:cNvPr id="22" name="text-288"/>
          <p:cNvSpPr txBox="1"/>
          <p:nvPr/>
        </p:nvSpPr>
        <p:spPr>
          <a:xfrm>
            <a:off x="2148840" y="2176272"/>
            <a:ext cx="274320" cy="228600"/>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M</a:t>
            </a:r>
            <a:endParaRPr lang="en-US" sz="1200" dirty="0"/>
          </a:p>
        </p:txBody>
      </p:sp>
      <p:sp>
        <p:nvSpPr>
          <p:cNvPr id="23" name="bar-track-289"/>
          <p:cNvSpPr/>
          <p:nvPr/>
        </p:nvSpPr>
        <p:spPr>
          <a:xfrm>
            <a:off x="2468880" y="2212848"/>
            <a:ext cx="2011680" cy="155448"/>
          </a:xfrm>
          <a:prstGeom prst="roundRect">
            <a:avLst>
              <a:gd name="adj" fmla="val 47059"/>
            </a:avLst>
          </a:prstGeom>
          <a:solidFill>
            <a:schemeClr val="bg2"/>
          </a:solidFill>
          <a:ln/>
        </p:spPr>
      </p:sp>
      <p:sp>
        <p:nvSpPr>
          <p:cNvPr id="24" name="bar-290"/>
          <p:cNvSpPr/>
          <p:nvPr/>
        </p:nvSpPr>
        <p:spPr>
          <a:xfrm>
            <a:off x="2468880" y="2212848"/>
            <a:ext cx="1609344" cy="155448"/>
          </a:xfrm>
          <a:prstGeom prst="roundRect">
            <a:avLst>
              <a:gd name="adj" fmla="val 47059"/>
            </a:avLst>
          </a:prstGeom>
          <a:solidFill>
            <a:schemeClr val="accent2"/>
          </a:solidFill>
          <a:ln/>
        </p:spPr>
      </p:sp>
      <p:sp>
        <p:nvSpPr>
          <p:cNvPr id="25" name="text-291"/>
          <p:cNvSpPr txBox="1"/>
          <p:nvPr/>
        </p:nvSpPr>
        <p:spPr>
          <a:xfrm>
            <a:off x="2148840" y="2542032"/>
            <a:ext cx="274320" cy="228600"/>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P</a:t>
            </a:r>
            <a:endParaRPr lang="en-US" sz="1200" dirty="0"/>
          </a:p>
        </p:txBody>
      </p:sp>
      <p:sp>
        <p:nvSpPr>
          <p:cNvPr id="26" name="bar-track-292"/>
          <p:cNvSpPr/>
          <p:nvPr/>
        </p:nvSpPr>
        <p:spPr>
          <a:xfrm>
            <a:off x="2468880" y="2578608"/>
            <a:ext cx="2011680" cy="155448"/>
          </a:xfrm>
          <a:prstGeom prst="roundRect">
            <a:avLst>
              <a:gd name="adj" fmla="val 47059"/>
            </a:avLst>
          </a:prstGeom>
          <a:solidFill>
            <a:schemeClr val="bg2"/>
          </a:solidFill>
          <a:ln/>
        </p:spPr>
      </p:sp>
      <p:sp>
        <p:nvSpPr>
          <p:cNvPr id="27" name="bar-293"/>
          <p:cNvSpPr/>
          <p:nvPr/>
        </p:nvSpPr>
        <p:spPr>
          <a:xfrm>
            <a:off x="2468880" y="2578608"/>
            <a:ext cx="1106424" cy="155448"/>
          </a:xfrm>
          <a:prstGeom prst="roundRect">
            <a:avLst>
              <a:gd name="adj" fmla="val 47059"/>
            </a:avLst>
          </a:prstGeom>
          <a:solidFill>
            <a:schemeClr val="accent1"/>
          </a:solidFill>
          <a:ln/>
        </p:spPr>
      </p:sp>
      <p:sp>
        <p:nvSpPr>
          <p:cNvPr id="28" name="text-294"/>
          <p:cNvSpPr txBox="1"/>
          <p:nvPr/>
        </p:nvSpPr>
        <p:spPr>
          <a:xfrm>
            <a:off x="2148840" y="2907792"/>
            <a:ext cx="274320" cy="228600"/>
          </a:xfrm>
          <a:prstGeom prst="rect">
            <a:avLst/>
          </a:prstGeom>
          <a:noFill/>
          <a:ln/>
        </p:spPr>
        <p:txBody>
          <a:bodyPr wrap="square" lIns="0" tIns="0" rIns="0" bIns="0" rtlCol="0" anchor="ctr"/>
          <a:lstStyle/>
          <a:p>
            <a:pPr indent="0" marL="0">
              <a:buNone/>
            </a:pPr>
            <a:r>
              <a:rPr lang="en-US" sz="1200" b="1" dirty="0">
                <a:solidFill>
                  <a:schemeClr val="tx1"/>
                </a:solidFill>
                <a:latin typeface="Arial" pitchFamily="34" charset="0"/>
                <a:ea typeface="Arial" pitchFamily="34" charset="-122"/>
                <a:cs typeface="Arial" pitchFamily="34" charset="-120"/>
              </a:rPr>
              <a:t>R</a:t>
            </a:r>
            <a:endParaRPr lang="en-US" sz="1200" dirty="0"/>
          </a:p>
        </p:txBody>
      </p:sp>
      <p:sp>
        <p:nvSpPr>
          <p:cNvPr id="29" name="bar-track-295"/>
          <p:cNvSpPr/>
          <p:nvPr/>
        </p:nvSpPr>
        <p:spPr>
          <a:xfrm>
            <a:off x="2468880" y="2944368"/>
            <a:ext cx="2011680" cy="155448"/>
          </a:xfrm>
          <a:prstGeom prst="roundRect">
            <a:avLst>
              <a:gd name="adj" fmla="val 47059"/>
            </a:avLst>
          </a:prstGeom>
          <a:solidFill>
            <a:schemeClr val="bg2"/>
          </a:solidFill>
          <a:ln/>
        </p:spPr>
      </p:sp>
      <p:sp>
        <p:nvSpPr>
          <p:cNvPr id="30" name="bar-296"/>
          <p:cNvSpPr/>
          <p:nvPr/>
        </p:nvSpPr>
        <p:spPr>
          <a:xfrm>
            <a:off x="2468880" y="2944368"/>
            <a:ext cx="603504" cy="155448"/>
          </a:xfrm>
          <a:prstGeom prst="roundRect">
            <a:avLst>
              <a:gd name="adj" fmla="val 47059"/>
            </a:avLst>
          </a:prstGeom>
          <a:solidFill>
            <a:schemeClr val="accent3"/>
          </a:solidFill>
          <a:ln/>
        </p:spPr>
      </p:sp>
      <p:sp>
        <p:nvSpPr>
          <p:cNvPr id="31" name="text-297"/>
          <p:cNvSpPr txBox="1"/>
          <p:nvPr/>
        </p:nvSpPr>
        <p:spPr>
          <a:xfrm>
            <a:off x="4572000" y="2907792"/>
            <a:ext cx="868680" cy="228600"/>
          </a:xfrm>
          <a:prstGeom prst="rect">
            <a:avLst/>
          </a:prstGeom>
          <a:noFill/>
          <a:ln/>
        </p:spPr>
        <p:txBody>
          <a:bodyPr wrap="square" lIns="0" tIns="0" rIns="0" bIns="0" rtlCol="0" anchor="ctr"/>
          <a:lstStyle/>
          <a:p>
            <a:pPr indent="0" marL="0">
              <a:buNone/>
            </a:pPr>
            <a:r>
              <a:rPr lang="en-US" sz="1000" b="1" dirty="0">
                <a:solidFill>
                  <a:schemeClr val="accent3"/>
                </a:solidFill>
              </a:rPr>
              <a:t>Le cuesta</a:t>
            </a:r>
            <a:endParaRPr lang="en-US" sz="1000" dirty="0"/>
          </a:p>
        </p:txBody>
      </p:sp>
      <p:sp>
        <p:nvSpPr>
          <p:cNvPr id="32" name="text-298"/>
          <p:cNvSpPr txBox="1"/>
          <p:nvPr/>
        </p:nvSpPr>
        <p:spPr>
          <a:xfrm>
            <a:off x="2148840" y="3337560"/>
            <a:ext cx="2011680" cy="320040"/>
          </a:xfrm>
          <a:prstGeom prst="rect">
            <a:avLst/>
          </a:prstGeom>
          <a:noFill/>
          <a:ln/>
        </p:spPr>
        <p:txBody>
          <a:bodyPr wrap="square" lIns="0" tIns="0" rIns="0" bIns="0" rtlCol="0" anchor="ctr"/>
          <a:lstStyle/>
          <a:p>
            <a:pPr indent="0" marL="0">
              <a:buNone/>
            </a:pPr>
            <a:r>
              <a:rPr lang="en-US" sz="1100" dirty="0">
                <a:solidFill>
                  <a:srgbClr val="5B6B7A"/>
                </a:solidFill>
              </a:rPr>
              <a:t>Esta semana: 3 sesiones</a:t>
            </a:r>
            <a:endParaRPr lang="en-US" sz="1100" dirty="0"/>
          </a:p>
        </p:txBody>
      </p:sp>
      <p:sp>
        <p:nvSpPr>
          <p:cNvPr id="33" name="icon-bg-299"/>
          <p:cNvSpPr/>
          <p:nvPr/>
        </p:nvSpPr>
        <p:spPr>
          <a:xfrm>
            <a:off x="4206240" y="3355848"/>
            <a:ext cx="292608" cy="292608"/>
          </a:xfrm>
          <a:prstGeom prst="ellipse">
            <a:avLst/>
          </a:prstGeom>
          <a:solidFill>
            <a:srgbClr val="F2C14E"/>
          </a:solidFill>
          <a:ln/>
        </p:spPr>
      </p:sp>
      <p:pic>
        <p:nvPicPr>
          <p:cNvPr id="34" name="icon-300" descr="preencoded.png">    </p:cNvPr>
          <p:cNvPicPr>
            <a:picLocks noChangeAspect="1"/>
          </p:cNvPicPr>
          <p:nvPr/>
        </p:nvPicPr>
        <p:blipFill>
          <a:blip r:embed="rId1"/>
          <a:stretch>
            <a:fillRect/>
          </a:stretch>
        </p:blipFill>
        <p:spPr>
          <a:xfrm>
            <a:off x="4282318" y="3431926"/>
            <a:ext cx="140452" cy="140452"/>
          </a:xfrm>
          <a:prstGeom prst="rect">
            <a:avLst/>
          </a:prstGeom>
        </p:spPr>
      </p:pic>
      <p:sp>
        <p:nvSpPr>
          <p:cNvPr id="35" name="icon-bg-301"/>
          <p:cNvSpPr/>
          <p:nvPr/>
        </p:nvSpPr>
        <p:spPr>
          <a:xfrm>
            <a:off x="4572000" y="3355848"/>
            <a:ext cx="292608" cy="292608"/>
          </a:xfrm>
          <a:prstGeom prst="ellipse">
            <a:avLst/>
          </a:prstGeom>
          <a:solidFill>
            <a:srgbClr val="3E8E78"/>
          </a:solidFill>
          <a:ln/>
        </p:spPr>
      </p:sp>
      <p:pic>
        <p:nvPicPr>
          <p:cNvPr id="36" name="icon-302" descr="preencoded.png">    </p:cNvPr>
          <p:cNvPicPr>
            <a:picLocks noChangeAspect="1"/>
          </p:cNvPicPr>
          <p:nvPr/>
        </p:nvPicPr>
        <p:blipFill>
          <a:blip r:embed="rId2"/>
          <a:stretch>
            <a:fillRect/>
          </a:stretch>
        </p:blipFill>
        <p:spPr>
          <a:xfrm>
            <a:off x="4648078" y="3431926"/>
            <a:ext cx="140452" cy="140452"/>
          </a:xfrm>
          <a:prstGeom prst="rect">
            <a:avLst/>
          </a:prstGeom>
        </p:spPr>
      </p:pic>
      <p:sp>
        <p:nvSpPr>
          <p:cNvPr id="37" name="icon-bg-303"/>
          <p:cNvSpPr/>
          <p:nvPr/>
        </p:nvSpPr>
        <p:spPr>
          <a:xfrm>
            <a:off x="4937760" y="3355848"/>
            <a:ext cx="292608" cy="292608"/>
          </a:xfrm>
          <a:prstGeom prst="ellipse">
            <a:avLst/>
          </a:prstGeom>
          <a:solidFill>
            <a:srgbClr val="F2C14E"/>
          </a:solidFill>
          <a:ln/>
        </p:spPr>
      </p:sp>
      <p:pic>
        <p:nvPicPr>
          <p:cNvPr id="38" name="icon-304" descr="preencoded.png">    </p:cNvPr>
          <p:cNvPicPr>
            <a:picLocks noChangeAspect="1"/>
          </p:cNvPicPr>
          <p:nvPr/>
        </p:nvPicPr>
        <p:blipFill>
          <a:blip r:embed="rId3"/>
          <a:stretch>
            <a:fillRect/>
          </a:stretch>
        </p:blipFill>
        <p:spPr>
          <a:xfrm>
            <a:off x="5013838" y="3431926"/>
            <a:ext cx="140452" cy="140452"/>
          </a:xfrm>
          <a:prstGeom prst="rect">
            <a:avLst/>
          </a:prstGeom>
        </p:spPr>
      </p:pic>
      <p:sp>
        <p:nvSpPr>
          <p:cNvPr id="39" name="card-305"/>
          <p:cNvSpPr/>
          <p:nvPr/>
        </p:nvSpPr>
        <p:spPr>
          <a:xfrm>
            <a:off x="2148840" y="3794760"/>
            <a:ext cx="3246120" cy="640080"/>
          </a:xfrm>
          <a:prstGeom prst="roundRect">
            <a:avLst>
              <a:gd name="adj" fmla="val 11429"/>
            </a:avLst>
          </a:prstGeom>
          <a:solidFill>
            <a:schemeClr val="bg2"/>
          </a:solidFill>
          <a:ln/>
        </p:spPr>
      </p:sp>
      <p:sp>
        <p:nvSpPr>
          <p:cNvPr id="40" name="text-306"/>
          <p:cNvSpPr txBox="1"/>
          <p:nvPr/>
        </p:nvSpPr>
        <p:spPr>
          <a:xfrm>
            <a:off x="2286000" y="3794760"/>
            <a:ext cx="3017520" cy="640080"/>
          </a:xfrm>
          <a:prstGeom prst="rect">
            <a:avLst/>
          </a:prstGeom>
          <a:noFill/>
          <a:ln/>
        </p:spPr>
        <p:txBody>
          <a:bodyPr wrap="square" lIns="0" tIns="0" rIns="0" bIns="0" rtlCol="0" anchor="ctr"/>
          <a:lstStyle/>
          <a:p>
            <a:pPr indent="0" marL="0">
              <a:buNone/>
            </a:pPr>
            <a:r>
              <a:rPr lang="en-US" sz="1100" i="1" dirty="0">
                <a:solidFill>
                  <a:schemeClr val="tx1"/>
                </a:solidFill>
              </a:rPr>
              <a:t>Observación: practicar la R con canciones y rimas.</a:t>
            </a:r>
            <a:endParaRPr lang="en-US" sz="1100" dirty="0"/>
          </a:p>
        </p:txBody>
      </p:sp>
      <p:sp>
        <p:nvSpPr>
          <p:cNvPr id="41" name="icon-bg-307"/>
          <p:cNvSpPr/>
          <p:nvPr/>
        </p:nvSpPr>
        <p:spPr>
          <a:xfrm>
            <a:off x="5852160" y="1097280"/>
            <a:ext cx="457200" cy="457200"/>
          </a:xfrm>
          <a:prstGeom prst="ellipse">
            <a:avLst/>
          </a:prstGeom>
          <a:solidFill>
            <a:schemeClr val="accent4"/>
          </a:solidFill>
          <a:ln/>
        </p:spPr>
      </p:sp>
      <p:pic>
        <p:nvPicPr>
          <p:cNvPr id="42" name="icon-308" descr="preencoded.png">    </p:cNvPr>
          <p:cNvPicPr>
            <a:picLocks noChangeAspect="1"/>
          </p:cNvPicPr>
          <p:nvPr/>
        </p:nvPicPr>
        <p:blipFill>
          <a:blip r:embed="rId4"/>
          <a:stretch>
            <a:fillRect/>
          </a:stretch>
        </p:blipFill>
        <p:spPr>
          <a:xfrm>
            <a:off x="5971032" y="1216152"/>
            <a:ext cx="219456" cy="219456"/>
          </a:xfrm>
          <a:prstGeom prst="rect">
            <a:avLst/>
          </a:prstGeom>
        </p:spPr>
      </p:pic>
      <p:sp>
        <p:nvSpPr>
          <p:cNvPr id="43" name="text-309"/>
          <p:cNvSpPr txBox="1"/>
          <p:nvPr/>
        </p:nvSpPr>
        <p:spPr>
          <a:xfrm>
            <a:off x="6446520" y="1051560"/>
            <a:ext cx="2240280" cy="274320"/>
          </a:xfrm>
          <a:prstGeom prst="rect">
            <a:avLst/>
          </a:prstGeom>
          <a:noFill/>
          <a:ln/>
        </p:spPr>
        <p:txBody>
          <a:bodyPr wrap="square" lIns="0" tIns="0" rIns="0" bIns="0" rtlCol="0" anchor="t"/>
          <a:lstStyle/>
          <a:p>
            <a:pPr indent="0" marL="0">
              <a:buNone/>
            </a:pPr>
            <a:r>
              <a:rPr lang="en-US" sz="1400" b="1" dirty="0">
                <a:solidFill>
                  <a:schemeClr val="tx2"/>
                </a:solidFill>
              </a:rPr>
              <a:t>Perfiles</a:t>
            </a:r>
            <a:endParaRPr lang="en-US" sz="1400" dirty="0"/>
          </a:p>
        </p:txBody>
      </p:sp>
      <p:sp>
        <p:nvSpPr>
          <p:cNvPr id="44" name="text-310"/>
          <p:cNvSpPr txBox="1"/>
          <p:nvPr/>
        </p:nvSpPr>
        <p:spPr>
          <a:xfrm>
            <a:off x="6446520" y="1344168"/>
            <a:ext cx="2240280" cy="502920"/>
          </a:xfrm>
          <a:prstGeom prst="rect">
            <a:avLst/>
          </a:prstGeom>
          <a:noFill/>
          <a:ln/>
        </p:spPr>
        <p:txBody>
          <a:bodyPr wrap="square" lIns="0" tIns="0" rIns="0" bIns="0" rtlCol="0" anchor="t"/>
          <a:lstStyle/>
          <a:p>
            <a:pPr indent="0" marL="0">
              <a:buNone/>
            </a:pPr>
            <a:r>
              <a:rPr lang="en-US" sz="1200" dirty="0">
                <a:solidFill>
                  <a:schemeClr val="tx1"/>
                </a:solidFill>
              </a:rPr>
              <a:t>Crea y edita el perfil de cada niño</a:t>
            </a:r>
            <a:endParaRPr lang="en-US" sz="1200" dirty="0"/>
          </a:p>
        </p:txBody>
      </p:sp>
      <p:sp>
        <p:nvSpPr>
          <p:cNvPr id="45" name="icon-bg-311"/>
          <p:cNvSpPr/>
          <p:nvPr/>
        </p:nvSpPr>
        <p:spPr>
          <a:xfrm>
            <a:off x="5852160" y="1993392"/>
            <a:ext cx="457200" cy="457200"/>
          </a:xfrm>
          <a:prstGeom prst="ellipse">
            <a:avLst/>
          </a:prstGeom>
          <a:solidFill>
            <a:schemeClr val="accent1"/>
          </a:solidFill>
          <a:ln/>
        </p:spPr>
      </p:sp>
      <p:pic>
        <p:nvPicPr>
          <p:cNvPr id="46" name="icon-312" descr="preencoded.png">    </p:cNvPr>
          <p:cNvPicPr>
            <a:picLocks noChangeAspect="1"/>
          </p:cNvPicPr>
          <p:nvPr/>
        </p:nvPicPr>
        <p:blipFill>
          <a:blip r:embed="rId5"/>
          <a:stretch>
            <a:fillRect/>
          </a:stretch>
        </p:blipFill>
        <p:spPr>
          <a:xfrm>
            <a:off x="5971032" y="2112264"/>
            <a:ext cx="219456" cy="219456"/>
          </a:xfrm>
          <a:prstGeom prst="rect">
            <a:avLst/>
          </a:prstGeom>
        </p:spPr>
      </p:pic>
      <p:sp>
        <p:nvSpPr>
          <p:cNvPr id="47" name="text-313"/>
          <p:cNvSpPr txBox="1"/>
          <p:nvPr/>
        </p:nvSpPr>
        <p:spPr>
          <a:xfrm>
            <a:off x="6446520" y="1947672"/>
            <a:ext cx="2240280" cy="274320"/>
          </a:xfrm>
          <a:prstGeom prst="rect">
            <a:avLst/>
          </a:prstGeom>
          <a:noFill/>
          <a:ln/>
        </p:spPr>
        <p:txBody>
          <a:bodyPr wrap="square" lIns="0" tIns="0" rIns="0" bIns="0" rtlCol="0" anchor="t"/>
          <a:lstStyle/>
          <a:p>
            <a:pPr indent="0" marL="0">
              <a:buNone/>
            </a:pPr>
            <a:r>
              <a:rPr lang="en-US" sz="1400" b="1" dirty="0">
                <a:solidFill>
                  <a:schemeClr val="tx2"/>
                </a:solidFill>
              </a:rPr>
              <a:t>Asignación</a:t>
            </a:r>
            <a:endParaRPr lang="en-US" sz="1400" dirty="0"/>
          </a:p>
        </p:txBody>
      </p:sp>
      <p:sp>
        <p:nvSpPr>
          <p:cNvPr id="48" name="text-314"/>
          <p:cNvSpPr txBox="1"/>
          <p:nvPr/>
        </p:nvSpPr>
        <p:spPr>
          <a:xfrm>
            <a:off x="6446520" y="2240280"/>
            <a:ext cx="2240280" cy="502920"/>
          </a:xfrm>
          <a:prstGeom prst="rect">
            <a:avLst/>
          </a:prstGeom>
          <a:noFill/>
          <a:ln/>
        </p:spPr>
        <p:txBody>
          <a:bodyPr wrap="square" lIns="0" tIns="0" rIns="0" bIns="0" rtlCol="0" anchor="t"/>
          <a:lstStyle/>
          <a:p>
            <a:pPr indent="0" marL="0">
              <a:buNone/>
            </a:pPr>
            <a:r>
              <a:rPr lang="en-US" sz="1200" dirty="0">
                <a:solidFill>
                  <a:schemeClr val="tx1"/>
                </a:solidFill>
              </a:rPr>
              <a:t>Elige letras y actividades para cada niño</a:t>
            </a:r>
            <a:endParaRPr lang="en-US" sz="1200" dirty="0"/>
          </a:p>
        </p:txBody>
      </p:sp>
      <p:sp>
        <p:nvSpPr>
          <p:cNvPr id="49" name="icon-bg-315"/>
          <p:cNvSpPr/>
          <p:nvPr/>
        </p:nvSpPr>
        <p:spPr>
          <a:xfrm>
            <a:off x="5852160" y="2889504"/>
            <a:ext cx="457200" cy="457200"/>
          </a:xfrm>
          <a:prstGeom prst="ellipse">
            <a:avLst/>
          </a:prstGeom>
          <a:solidFill>
            <a:schemeClr val="accent2"/>
          </a:solidFill>
          <a:ln/>
        </p:spPr>
      </p:sp>
      <p:pic>
        <p:nvPicPr>
          <p:cNvPr id="50" name="icon-316" descr="preencoded.png">    </p:cNvPr>
          <p:cNvPicPr>
            <a:picLocks noChangeAspect="1"/>
          </p:cNvPicPr>
          <p:nvPr/>
        </p:nvPicPr>
        <p:blipFill>
          <a:blip r:embed="rId6"/>
          <a:stretch>
            <a:fillRect/>
          </a:stretch>
        </p:blipFill>
        <p:spPr>
          <a:xfrm>
            <a:off x="5971032" y="3008376"/>
            <a:ext cx="219456" cy="219456"/>
          </a:xfrm>
          <a:prstGeom prst="rect">
            <a:avLst/>
          </a:prstGeom>
        </p:spPr>
      </p:pic>
      <p:sp>
        <p:nvSpPr>
          <p:cNvPr id="51" name="text-317"/>
          <p:cNvSpPr txBox="1"/>
          <p:nvPr/>
        </p:nvSpPr>
        <p:spPr>
          <a:xfrm>
            <a:off x="6446520" y="2843784"/>
            <a:ext cx="2240280" cy="274320"/>
          </a:xfrm>
          <a:prstGeom prst="rect">
            <a:avLst/>
          </a:prstGeom>
          <a:noFill/>
          <a:ln/>
        </p:spPr>
        <p:txBody>
          <a:bodyPr wrap="square" lIns="0" tIns="0" rIns="0" bIns="0" rtlCol="0" anchor="t"/>
          <a:lstStyle/>
          <a:p>
            <a:pPr indent="0" marL="0">
              <a:buNone/>
            </a:pPr>
            <a:r>
              <a:rPr lang="en-US" sz="1400" b="1" dirty="0">
                <a:solidFill>
                  <a:schemeClr val="tx2"/>
                </a:solidFill>
              </a:rPr>
              <a:t>Avance</a:t>
            </a:r>
            <a:endParaRPr lang="en-US" sz="1400" dirty="0"/>
          </a:p>
        </p:txBody>
      </p:sp>
      <p:sp>
        <p:nvSpPr>
          <p:cNvPr id="52" name="text-318"/>
          <p:cNvSpPr txBox="1"/>
          <p:nvPr/>
        </p:nvSpPr>
        <p:spPr>
          <a:xfrm>
            <a:off x="6446520" y="3136392"/>
            <a:ext cx="2240280" cy="502920"/>
          </a:xfrm>
          <a:prstGeom prst="rect">
            <a:avLst/>
          </a:prstGeom>
          <a:noFill/>
          <a:ln/>
        </p:spPr>
        <p:txBody>
          <a:bodyPr wrap="square" lIns="0" tIns="0" rIns="0" bIns="0" rtlCol="0" anchor="t"/>
          <a:lstStyle/>
          <a:p>
            <a:pPr indent="0" marL="0">
              <a:buNone/>
            </a:pPr>
            <a:r>
              <a:rPr lang="en-US" sz="1200" dirty="0">
                <a:solidFill>
                  <a:schemeClr val="tx1"/>
                </a:solidFill>
              </a:rPr>
              <a:t>Ve su progreso y las letras que más le cuestan</a:t>
            </a:r>
            <a:endParaRPr lang="en-US" sz="1200" dirty="0"/>
          </a:p>
        </p:txBody>
      </p:sp>
      <p:sp>
        <p:nvSpPr>
          <p:cNvPr id="53" name="icon-bg-319"/>
          <p:cNvSpPr/>
          <p:nvPr/>
        </p:nvSpPr>
        <p:spPr>
          <a:xfrm>
            <a:off x="5852160" y="3785616"/>
            <a:ext cx="457200" cy="457200"/>
          </a:xfrm>
          <a:prstGeom prst="ellipse">
            <a:avLst/>
          </a:prstGeom>
          <a:solidFill>
            <a:schemeClr val="accent5"/>
          </a:solidFill>
          <a:ln/>
        </p:spPr>
      </p:sp>
      <p:pic>
        <p:nvPicPr>
          <p:cNvPr id="54" name="icon-320" descr="preencoded.png">    </p:cNvPr>
          <p:cNvPicPr>
            <a:picLocks noChangeAspect="1"/>
          </p:cNvPicPr>
          <p:nvPr/>
        </p:nvPicPr>
        <p:blipFill>
          <a:blip r:embed="rId7"/>
          <a:stretch>
            <a:fillRect/>
          </a:stretch>
        </p:blipFill>
        <p:spPr>
          <a:xfrm>
            <a:off x="5971032" y="3904488"/>
            <a:ext cx="219456" cy="219456"/>
          </a:xfrm>
          <a:prstGeom prst="rect">
            <a:avLst/>
          </a:prstGeom>
        </p:spPr>
      </p:pic>
      <p:sp>
        <p:nvSpPr>
          <p:cNvPr id="55" name="text-321"/>
          <p:cNvSpPr txBox="1"/>
          <p:nvPr/>
        </p:nvSpPr>
        <p:spPr>
          <a:xfrm>
            <a:off x="6446520" y="3739896"/>
            <a:ext cx="2240280" cy="274320"/>
          </a:xfrm>
          <a:prstGeom prst="rect">
            <a:avLst/>
          </a:prstGeom>
          <a:noFill/>
          <a:ln/>
        </p:spPr>
        <p:txBody>
          <a:bodyPr wrap="square" lIns="0" tIns="0" rIns="0" bIns="0" rtlCol="0" anchor="t"/>
          <a:lstStyle/>
          <a:p>
            <a:pPr indent="0" marL="0">
              <a:buNone/>
            </a:pPr>
            <a:r>
              <a:rPr lang="en-US" sz="1400" b="1" dirty="0">
                <a:solidFill>
                  <a:schemeClr val="tx2"/>
                </a:solidFill>
              </a:rPr>
              <a:t>Seguimiento</a:t>
            </a:r>
            <a:endParaRPr lang="en-US" sz="1400" dirty="0"/>
          </a:p>
        </p:txBody>
      </p:sp>
      <p:sp>
        <p:nvSpPr>
          <p:cNvPr id="56" name="text-322"/>
          <p:cNvSpPr txBox="1"/>
          <p:nvPr/>
        </p:nvSpPr>
        <p:spPr>
          <a:xfrm>
            <a:off x="6446520" y="4032504"/>
            <a:ext cx="2240280" cy="502920"/>
          </a:xfrm>
          <a:prstGeom prst="rect">
            <a:avLst/>
          </a:prstGeom>
          <a:noFill/>
          <a:ln/>
        </p:spPr>
        <p:txBody>
          <a:bodyPr wrap="square" lIns="0" tIns="0" rIns="0" bIns="0" rtlCol="0" anchor="t"/>
          <a:lstStyle/>
          <a:p>
            <a:pPr indent="0" marL="0">
              <a:buNone/>
            </a:pPr>
            <a:r>
              <a:rPr lang="en-US" sz="1200" dirty="0">
                <a:solidFill>
                  <a:schemeClr val="tx1"/>
                </a:solidFill>
              </a:rPr>
              <a:t>Emociones, sesiones, observaciones y rúbricas</a:t>
            </a:r>
            <a:endParaRPr lang="en-US" sz="1200" dirty="0"/>
          </a:p>
        </p:txBody>
      </p:sp>
      <p:sp>
        <p:nvSpPr>
          <p:cNvPr id="25" name="Slide Number Placeholder 0"/>
          <p:cNvSpPr>
            <a:spLocks noGrp="1"/>
          </p:cNvSpPr>
          <p:nvPr>
            <p:ph type="sldNum" sz="quarter" idx="4294967295"/>
          </p:nvPr>
        </p:nvSpPr>
        <p:spPr>
          <a:xfrm>
            <a:off x="832104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31520"/>
          </a:xfrm>
          <a:prstGeom prst="rect">
            <a:avLst/>
          </a:prstGeom>
          <a:noFill/>
          <a:ln/>
        </p:spPr>
        <p:txBody>
          <a:bodyPr wrap="square" lIns="0" tIns="0" rIns="0" bIns="0" rtlCol="0" anchor="ctr"/>
          <a:lstStyle/>
          <a:p>
            <a:pPr indent="0" marL="0">
              <a:buNone/>
            </a:pPr>
            <a:r>
              <a:rPr lang="en-US" sz="3200" b="1" dirty="0">
                <a:solidFill>
                  <a:schemeClr val="bg1"/>
                </a:solidFill>
                <a:latin typeface="Bookman Old Style" pitchFamily="34" charset="0"/>
                <a:ea typeface="Bookman Old Style" pitchFamily="34" charset="-122"/>
                <a:cs typeface="Bookman Old Style" pitchFamily="34" charset="-120"/>
              </a:rPr>
              <a:t>Próximos pasos</a:t>
            </a:r>
            <a:endParaRPr lang="en-US" sz="3200" dirty="0"/>
          </a:p>
        </p:txBody>
      </p:sp>
      <p:sp>
        <p:nvSpPr>
          <p:cNvPr id="3" name="timeline"/>
          <p:cNvSpPr/>
          <p:nvPr/>
        </p:nvSpPr>
        <p:spPr>
          <a:xfrm>
            <a:off x="1234440" y="1828800"/>
            <a:ext cx="6675120" cy="0"/>
          </a:xfrm>
          <a:prstGeom prst="line">
            <a:avLst/>
          </a:prstGeom>
          <a:noFill/>
          <a:ln w="25400">
            <a:solidFill>
              <a:srgbClr val="6F8296"/>
            </a:solidFill>
            <a:prstDash val="solid"/>
          </a:ln>
        </p:spPr>
      </p:sp>
      <p:sp>
        <p:nvSpPr>
          <p:cNvPr id="4" name="icon-bg-323"/>
          <p:cNvSpPr/>
          <p:nvPr/>
        </p:nvSpPr>
        <p:spPr>
          <a:xfrm>
            <a:off x="978408" y="1572768"/>
            <a:ext cx="512064" cy="512064"/>
          </a:xfrm>
          <a:prstGeom prst="ellipse">
            <a:avLst/>
          </a:prstGeom>
          <a:solidFill>
            <a:schemeClr val="accent2"/>
          </a:solidFill>
          <a:ln/>
        </p:spPr>
      </p:sp>
      <p:pic>
        <p:nvPicPr>
          <p:cNvPr id="5" name="icon-324" descr="preencoded.png">    </p:cNvPr>
          <p:cNvPicPr>
            <a:picLocks noChangeAspect="1"/>
          </p:cNvPicPr>
          <p:nvPr/>
        </p:nvPicPr>
        <p:blipFill>
          <a:blip r:embed="rId1"/>
          <a:stretch>
            <a:fillRect/>
          </a:stretch>
        </p:blipFill>
        <p:spPr>
          <a:xfrm>
            <a:off x="1111545" y="1705905"/>
            <a:ext cx="245791" cy="245791"/>
          </a:xfrm>
          <a:prstGeom prst="rect">
            <a:avLst/>
          </a:prstGeom>
        </p:spPr>
      </p:pic>
      <p:sp>
        <p:nvSpPr>
          <p:cNvPr id="6" name="text-325"/>
          <p:cNvSpPr txBox="1"/>
          <p:nvPr/>
        </p:nvSpPr>
        <p:spPr>
          <a:xfrm>
            <a:off x="228600" y="2240280"/>
            <a:ext cx="2011680" cy="320040"/>
          </a:xfrm>
          <a:prstGeom prst="rect">
            <a:avLst/>
          </a:prstGeom>
          <a:noFill/>
          <a:ln/>
        </p:spPr>
        <p:txBody>
          <a:bodyPr wrap="square" lIns="0" tIns="0" rIns="0" bIns="0" rtlCol="0" anchor="t"/>
          <a:lstStyle/>
          <a:p>
            <a:pPr algn="ctr" indent="0" marL="0">
              <a:buNone/>
            </a:pPr>
            <a:r>
              <a:rPr lang="en-US" sz="1500" b="1" dirty="0">
                <a:solidFill>
                  <a:schemeClr val="bg1"/>
                </a:solidFill>
              </a:rPr>
              <a:t>Visita al liceo</a:t>
            </a:r>
            <a:endParaRPr lang="en-US" sz="1500" dirty="0"/>
          </a:p>
        </p:txBody>
      </p:sp>
      <p:sp>
        <p:nvSpPr>
          <p:cNvPr id="7" name="text-326"/>
          <p:cNvSpPr txBox="1"/>
          <p:nvPr/>
        </p:nvSpPr>
        <p:spPr>
          <a:xfrm>
            <a:off x="228600" y="2560320"/>
            <a:ext cx="2011680" cy="320040"/>
          </a:xfrm>
          <a:prstGeom prst="rect">
            <a:avLst/>
          </a:prstGeom>
          <a:noFill/>
          <a:ln/>
        </p:spPr>
        <p:txBody>
          <a:bodyPr wrap="square" lIns="0" tIns="0" rIns="0" bIns="0" rtlCol="0" anchor="t"/>
          <a:lstStyle/>
          <a:p>
            <a:pPr algn="ctr" indent="0" marL="0">
              <a:buNone/>
            </a:pPr>
            <a:r>
              <a:rPr lang="en-US" sz="1200" dirty="0">
                <a:solidFill>
                  <a:srgbClr val="B8C7D3"/>
                </a:solidFill>
              </a:rPr>
              <a:t>24 de septiembre · listo</a:t>
            </a:r>
            <a:endParaRPr lang="en-US" sz="1200" dirty="0"/>
          </a:p>
        </p:txBody>
      </p:sp>
      <p:sp>
        <p:nvSpPr>
          <p:cNvPr id="8" name="node-327"/>
          <p:cNvSpPr/>
          <p:nvPr/>
        </p:nvSpPr>
        <p:spPr>
          <a:xfrm>
            <a:off x="3203448" y="1572768"/>
            <a:ext cx="512064" cy="512064"/>
          </a:xfrm>
          <a:prstGeom prst="ellipse">
            <a:avLst/>
          </a:prstGeom>
          <a:solidFill>
            <a:srgbClr val="2E4057"/>
          </a:solidFill>
          <a:ln w="38100">
            <a:solidFill>
              <a:srgbClr val="F2C14E"/>
            </a:solidFill>
            <a:prstDash val="solid"/>
          </a:ln>
        </p:spPr>
      </p:sp>
      <p:sp>
        <p:nvSpPr>
          <p:cNvPr id="9" name="text-328"/>
          <p:cNvSpPr txBox="1"/>
          <p:nvPr/>
        </p:nvSpPr>
        <p:spPr>
          <a:xfrm>
            <a:off x="2453640" y="2240280"/>
            <a:ext cx="2011680" cy="320040"/>
          </a:xfrm>
          <a:prstGeom prst="rect">
            <a:avLst/>
          </a:prstGeom>
          <a:noFill/>
          <a:ln/>
        </p:spPr>
        <p:txBody>
          <a:bodyPr wrap="square" lIns="0" tIns="0" rIns="0" bIns="0" rtlCol="0" anchor="t"/>
          <a:lstStyle/>
          <a:p>
            <a:pPr algn="ctr" indent="0" marL="0">
              <a:buNone/>
            </a:pPr>
            <a:r>
              <a:rPr lang="en-US" sz="1500" b="1" dirty="0">
                <a:solidFill>
                  <a:schemeClr val="bg1"/>
                </a:solidFill>
              </a:rPr>
              <a:t>Diseño de pantallas</a:t>
            </a:r>
            <a:endParaRPr lang="en-US" sz="1500" dirty="0"/>
          </a:p>
        </p:txBody>
      </p:sp>
      <p:sp>
        <p:nvSpPr>
          <p:cNvPr id="10" name="text-329"/>
          <p:cNvSpPr txBox="1"/>
          <p:nvPr/>
        </p:nvSpPr>
        <p:spPr>
          <a:xfrm>
            <a:off x="2453640" y="2560320"/>
            <a:ext cx="2011680" cy="320040"/>
          </a:xfrm>
          <a:prstGeom prst="rect">
            <a:avLst/>
          </a:prstGeom>
          <a:noFill/>
          <a:ln/>
        </p:spPr>
        <p:txBody>
          <a:bodyPr wrap="square" lIns="0" tIns="0" rIns="0" bIns="0" rtlCol="0" anchor="t"/>
          <a:lstStyle/>
          <a:p>
            <a:pPr algn="ctr" indent="0" marL="0">
              <a:buNone/>
            </a:pPr>
            <a:r>
              <a:rPr lang="en-US" sz="1200" dirty="0">
                <a:solidFill>
                  <a:srgbClr val="B8C7D3"/>
                </a:solidFill>
              </a:rPr>
              <a:t>Con lo presentado hoy</a:t>
            </a:r>
            <a:endParaRPr lang="en-US" sz="1200" dirty="0"/>
          </a:p>
        </p:txBody>
      </p:sp>
      <p:sp>
        <p:nvSpPr>
          <p:cNvPr id="11" name="node-330"/>
          <p:cNvSpPr/>
          <p:nvPr/>
        </p:nvSpPr>
        <p:spPr>
          <a:xfrm>
            <a:off x="5428488" y="1572768"/>
            <a:ext cx="512064" cy="512064"/>
          </a:xfrm>
          <a:prstGeom prst="ellipse">
            <a:avLst/>
          </a:prstGeom>
          <a:solidFill>
            <a:srgbClr val="2E4057"/>
          </a:solidFill>
          <a:ln w="38100">
            <a:solidFill>
              <a:srgbClr val="F2C14E"/>
            </a:solidFill>
            <a:prstDash val="solid"/>
          </a:ln>
        </p:spPr>
      </p:sp>
      <p:sp>
        <p:nvSpPr>
          <p:cNvPr id="12" name="text-331"/>
          <p:cNvSpPr txBox="1"/>
          <p:nvPr/>
        </p:nvSpPr>
        <p:spPr>
          <a:xfrm>
            <a:off x="4678680" y="2240280"/>
            <a:ext cx="2011680" cy="320040"/>
          </a:xfrm>
          <a:prstGeom prst="rect">
            <a:avLst/>
          </a:prstGeom>
          <a:noFill/>
          <a:ln/>
        </p:spPr>
        <p:txBody>
          <a:bodyPr wrap="square" lIns="0" tIns="0" rIns="0" bIns="0" rtlCol="0" anchor="t"/>
          <a:lstStyle/>
          <a:p>
            <a:pPr algn="ctr" indent="0" marL="0">
              <a:buNone/>
            </a:pPr>
            <a:r>
              <a:rPr lang="en-US" sz="1500" b="1" dirty="0">
                <a:solidFill>
                  <a:schemeClr val="bg1"/>
                </a:solidFill>
              </a:rPr>
              <a:t>Prototipo y validación</a:t>
            </a:r>
            <a:endParaRPr lang="en-US" sz="1500" dirty="0"/>
          </a:p>
        </p:txBody>
      </p:sp>
      <p:sp>
        <p:nvSpPr>
          <p:cNvPr id="13" name="text-332"/>
          <p:cNvSpPr txBox="1"/>
          <p:nvPr/>
        </p:nvSpPr>
        <p:spPr>
          <a:xfrm>
            <a:off x="4678680" y="2560320"/>
            <a:ext cx="2011680" cy="320040"/>
          </a:xfrm>
          <a:prstGeom prst="rect">
            <a:avLst/>
          </a:prstGeom>
          <a:noFill/>
          <a:ln/>
        </p:spPr>
        <p:txBody>
          <a:bodyPr wrap="square" lIns="0" tIns="0" rIns="0" bIns="0" rtlCol="0" anchor="t"/>
          <a:lstStyle/>
          <a:p>
            <a:pPr algn="ctr" indent="0" marL="0">
              <a:buNone/>
            </a:pPr>
            <a:r>
              <a:rPr lang="en-US" sz="1200" dirty="0">
                <a:solidFill>
                  <a:srgbClr val="B8C7D3"/>
                </a:solidFill>
              </a:rPr>
              <a:t>Revisión con las educadoras</a:t>
            </a:r>
            <a:endParaRPr lang="en-US" sz="1200" dirty="0"/>
          </a:p>
        </p:txBody>
      </p:sp>
      <p:sp>
        <p:nvSpPr>
          <p:cNvPr id="14" name="node-333"/>
          <p:cNvSpPr/>
          <p:nvPr/>
        </p:nvSpPr>
        <p:spPr>
          <a:xfrm>
            <a:off x="7653528" y="1572768"/>
            <a:ext cx="512064" cy="512064"/>
          </a:xfrm>
          <a:prstGeom prst="ellipse">
            <a:avLst/>
          </a:prstGeom>
          <a:solidFill>
            <a:srgbClr val="2E4057"/>
          </a:solidFill>
          <a:ln w="38100">
            <a:solidFill>
              <a:srgbClr val="F2C14E"/>
            </a:solidFill>
            <a:prstDash val="solid"/>
          </a:ln>
        </p:spPr>
      </p:sp>
      <p:sp>
        <p:nvSpPr>
          <p:cNvPr id="15" name="text-334"/>
          <p:cNvSpPr txBox="1"/>
          <p:nvPr/>
        </p:nvSpPr>
        <p:spPr>
          <a:xfrm>
            <a:off x="6903720" y="2240280"/>
            <a:ext cx="2011680" cy="320040"/>
          </a:xfrm>
          <a:prstGeom prst="rect">
            <a:avLst/>
          </a:prstGeom>
          <a:noFill/>
          <a:ln/>
        </p:spPr>
        <p:txBody>
          <a:bodyPr wrap="square" lIns="0" tIns="0" rIns="0" bIns="0" rtlCol="0" anchor="t"/>
          <a:lstStyle/>
          <a:p>
            <a:pPr algn="ctr" indent="0" marL="0">
              <a:buNone/>
            </a:pPr>
            <a:r>
              <a:rPr lang="en-US" sz="1500" b="1" dirty="0">
                <a:solidFill>
                  <a:schemeClr val="bg1"/>
                </a:solidFill>
              </a:rPr>
              <a:t>Entrega del prototipo</a:t>
            </a:r>
            <a:endParaRPr lang="en-US" sz="1500" dirty="0"/>
          </a:p>
        </p:txBody>
      </p:sp>
      <p:sp>
        <p:nvSpPr>
          <p:cNvPr id="16" name="text-335"/>
          <p:cNvSpPr txBox="1"/>
          <p:nvPr/>
        </p:nvSpPr>
        <p:spPr>
          <a:xfrm>
            <a:off x="6903720" y="2560320"/>
            <a:ext cx="2011680" cy="320040"/>
          </a:xfrm>
          <a:prstGeom prst="rect">
            <a:avLst/>
          </a:prstGeom>
          <a:noFill/>
          <a:ln/>
        </p:spPr>
        <p:txBody>
          <a:bodyPr wrap="square" lIns="0" tIns="0" rIns="0" bIns="0" rtlCol="0" anchor="t"/>
          <a:lstStyle/>
          <a:p>
            <a:pPr algn="ctr" indent="0" marL="0">
              <a:buNone/>
            </a:pPr>
            <a:r>
              <a:rPr lang="en-US" sz="1200" dirty="0">
                <a:solidFill>
                  <a:srgbClr val="B8C7D3"/>
                </a:solidFill>
              </a:rPr>
              <a:t>Diciembre 2026</a:t>
            </a:r>
            <a:endParaRPr lang="en-US" sz="1200" dirty="0"/>
          </a:p>
        </p:txBody>
      </p:sp>
      <p:sp>
        <p:nvSpPr>
          <p:cNvPr id="17" name="text-336"/>
          <p:cNvSpPr txBox="1"/>
          <p:nvPr/>
        </p:nvSpPr>
        <p:spPr>
          <a:xfrm>
            <a:off x="548640" y="3291840"/>
            <a:ext cx="8046720" cy="365760"/>
          </a:xfrm>
          <a:prstGeom prst="rect">
            <a:avLst/>
          </a:prstGeom>
          <a:noFill/>
          <a:ln/>
        </p:spPr>
        <p:txBody>
          <a:bodyPr wrap="square" lIns="0" tIns="0" rIns="0" bIns="0" rtlCol="0" anchor="ctr"/>
          <a:lstStyle/>
          <a:p>
            <a:pPr algn="ctr" indent="0" marL="0">
              <a:buNone/>
            </a:pPr>
            <a:r>
              <a:rPr lang="en-US" sz="1500" b="1" dirty="0">
                <a:solidFill>
                  <a:srgbClr val="F2C14E"/>
                </a:solidFill>
              </a:rPr>
              <a:t>A futuro: </a:t>
            </a:r>
            <a:pPr algn="ctr" indent="0" marL="0">
              <a:buNone/>
            </a:pPr>
            <a:r>
              <a:rPr lang="en-US" sz="1500" dirty="0">
                <a:solidFill>
                  <a:srgbClr val="DCE6EE"/>
                </a:solidFill>
              </a:rPr>
              <a:t>versión para tablets · contenidos de 1.º básico · uso desde el hogar</a:t>
            </a:r>
            <a:endParaRPr lang="en-US" sz="1500" dirty="0"/>
          </a:p>
        </p:txBody>
      </p:sp>
      <p:sp>
        <p:nvSpPr>
          <p:cNvPr id="18" name="text-337"/>
          <p:cNvSpPr txBox="1"/>
          <p:nvPr/>
        </p:nvSpPr>
        <p:spPr>
          <a:xfrm>
            <a:off x="548640" y="3931920"/>
            <a:ext cx="8046720" cy="640080"/>
          </a:xfrm>
          <a:prstGeom prst="rect">
            <a:avLst/>
          </a:prstGeom>
          <a:noFill/>
          <a:ln/>
        </p:spPr>
        <p:txBody>
          <a:bodyPr wrap="square" lIns="0" tIns="0" rIns="0" bIns="0" rtlCol="0" anchor="ctr"/>
          <a:lstStyle/>
          <a:p>
            <a:pPr algn="ctr" indent="0" marL="0">
              <a:buNone/>
            </a:pPr>
            <a:r>
              <a:rPr lang="en-US" sz="3000" b="1" dirty="0">
                <a:solidFill>
                  <a:schemeClr val="accent6"/>
                </a:solidFill>
                <a:latin typeface="Bookman Old Style" pitchFamily="34" charset="0"/>
                <a:ea typeface="Bookman Old Style" pitchFamily="34" charset="-122"/>
                <a:cs typeface="Bookman Old Style" pitchFamily="34" charset="-120"/>
              </a:rPr>
              <a:t>¡Gracias!  ¿Preguntas?</a:t>
            </a:r>
            <a:endParaRPr lang="en-US" sz="3000" dirty="0"/>
          </a:p>
        </p:txBody>
      </p:sp>
    </p:spTree>
  </p:cSld>
  <p:clrMapOvr>
    <a:masterClrMapping/>
  </p:clrMapOvr>
</p:sld>
</file>

<file path=ppt/theme/theme1.xml><?xml version="1.0" encoding="utf-8"?>
<a:theme xmlns:a="http://schemas.openxmlformats.org/drawingml/2006/main" name="Leer para Todos">
  <a:themeElements>
    <a:clrScheme name="Leer para Todos">
      <a:dk1>
        <a:srgbClr val="1E2A36"/>
      </a:dk1>
      <a:lt1>
        <a:srgbClr val="FFFFFF"/>
      </a:lt1>
      <a:dk2>
        <a:srgbClr val="2E4057"/>
      </a:dk2>
      <a:lt2>
        <a:srgbClr val="EEF3F6"/>
      </a:lt2>
      <a:accent1>
        <a:srgbClr val="E08A3C"/>
      </a:accent1>
      <a:accent2>
        <a:srgbClr val="3E8E78"/>
      </a:accent2>
      <a:accent3>
        <a:srgbClr val="D45D4A"/>
      </a:accent3>
      <a:accent4>
        <a:srgbClr val="4A7BA7"/>
      </a:accent4>
      <a:accent5>
        <a:srgbClr val="8569AD"/>
      </a:accent5>
      <a:accent6>
        <a:srgbClr val="F2C14E"/>
      </a:accent6>
      <a:hlink>
        <a:srgbClr val="4A7BA7"/>
      </a:hlink>
      <a:folHlink>
        <a:srgbClr val="8569AD"/>
      </a:folHlink>
    </a:clrScheme>
    <a:fontScheme name="Leer para Todos">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Leer para Todos</dc:title>
  <dc:subject>PptxGenJS Presentation</dc:subject>
  <dc:creator>Equipo Leer para Todos</dc:creator>
  <cp:lastModifiedBy>Equipo Leer para Todos</cp:lastModifiedBy>
  <cp:revision>1</cp:revision>
  <dcterms:created xsi:type="dcterms:W3CDTF">2026-10-05T12:17:41Z</dcterms:created>
  <dcterms:modified xsi:type="dcterms:W3CDTF">2026-10-05T12:17:41Z</dcterms:modified>
</cp:coreProperties>
</file>